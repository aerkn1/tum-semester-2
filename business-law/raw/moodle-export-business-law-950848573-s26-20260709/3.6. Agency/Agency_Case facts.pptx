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7"/>
  </p:notesMasterIdLst>
  <p:sldIdLst>
    <p:sldId id="706" r:id="rId2"/>
    <p:sldId id="769" r:id="rId3"/>
    <p:sldId id="800" r:id="rId4"/>
    <p:sldId id="775" r:id="rId5"/>
    <p:sldId id="767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2A547EB9-2094-40E3-8A47-DB4C9969E219}">
          <p14:sldIdLst>
            <p14:sldId id="706"/>
          </p14:sldIdLst>
        </p14:section>
        <p14:section name="Revision questions" id="{94430C70-5E57-4B3B-BE13-7E9793D3C192}">
          <p14:sldIdLst/>
        </p14:section>
        <p14:section name="Agency" id="{C09E5EC1-E169-4A98-BC57-AF9475531768}">
          <p14:sldIdLst>
            <p14:sldId id="769"/>
            <p14:sldId id="800"/>
            <p14:sldId id="775"/>
            <p14:sldId id="767"/>
          </p14:sldIdLst>
        </p14:section>
        <p14:section name="Takeaway" id="{0AFC85EC-6F2D-4D19-8867-57A32AAB799E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lsing, Nikita" initials="RN" lastIdx="1" clrIdx="1">
    <p:extLst>
      <p:ext uri="{19B8F6BF-5375-455C-9EA6-DF929625EA0E}">
        <p15:presenceInfo xmlns:p15="http://schemas.microsoft.com/office/powerpoint/2012/main" userId="Rolsing, Nikit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00" autoAdjust="0"/>
    <p:restoredTop sz="93800" autoAdjust="0"/>
  </p:normalViewPr>
  <p:slideViewPr>
    <p:cSldViewPr snapToGrid="0">
      <p:cViewPr varScale="1">
        <p:scale>
          <a:sx n="77" d="100"/>
          <a:sy n="77" d="100"/>
        </p:scale>
        <p:origin x="3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5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issa Dowse" userId="cd79fe79b5a07752" providerId="LiveId" clId="{76B1586B-AD93-4D4E-9814-B76B5EB1F21A}"/>
    <pc:docChg chg="undo custSel delSld modSld">
      <pc:chgData name="Melissa Dowse" userId="cd79fe79b5a07752" providerId="LiveId" clId="{76B1586B-AD93-4D4E-9814-B76B5EB1F21A}" dt="2020-06-07T21:51:02.468" v="1409" actId="20577"/>
      <pc:docMkLst>
        <pc:docMk/>
      </pc:docMkLst>
      <pc:sldChg chg="del">
        <pc:chgData name="Melissa Dowse" userId="cd79fe79b5a07752" providerId="LiveId" clId="{76B1586B-AD93-4D4E-9814-B76B5EB1F21A}" dt="2020-06-07T21:06:01.505" v="776" actId="47"/>
        <pc:sldMkLst>
          <pc:docMk/>
          <pc:sldMk cId="3193463848" sldId="300"/>
        </pc:sldMkLst>
      </pc:sldChg>
      <pc:sldChg chg="addSp modSp mod modAnim">
        <pc:chgData name="Melissa Dowse" userId="cd79fe79b5a07752" providerId="LiveId" clId="{76B1586B-AD93-4D4E-9814-B76B5EB1F21A}" dt="2020-06-07T20:13:15.222" v="50" actId="2711"/>
        <pc:sldMkLst>
          <pc:docMk/>
          <pc:sldMk cId="644200978" sldId="311"/>
        </pc:sldMkLst>
        <pc:spChg chg="mod">
          <ac:chgData name="Melissa Dowse" userId="cd79fe79b5a07752" providerId="LiveId" clId="{76B1586B-AD93-4D4E-9814-B76B5EB1F21A}" dt="2020-06-07T20:13:15.222" v="50" actId="2711"/>
          <ac:spMkLst>
            <pc:docMk/>
            <pc:sldMk cId="644200978" sldId="311"/>
            <ac:spMk id="3" creationId="{62C851EA-F782-D04D-8511-4F00992EBE5E}"/>
          </ac:spMkLst>
        </pc:spChg>
        <pc:spChg chg="add mod">
          <ac:chgData name="Melissa Dowse" userId="cd79fe79b5a07752" providerId="LiveId" clId="{76B1586B-AD93-4D4E-9814-B76B5EB1F21A}" dt="2020-06-07T20:12:38.622" v="37" actId="1076"/>
          <ac:spMkLst>
            <pc:docMk/>
            <pc:sldMk cId="644200978" sldId="311"/>
            <ac:spMk id="5" creationId="{B6C41224-7C3E-4E56-9298-0850DF8ED476}"/>
          </ac:spMkLst>
        </pc:spChg>
      </pc:sldChg>
      <pc:sldChg chg="modSp mod">
        <pc:chgData name="Melissa Dowse" userId="cd79fe79b5a07752" providerId="LiveId" clId="{76B1586B-AD93-4D4E-9814-B76B5EB1F21A}" dt="2020-06-07T20:29:49.746" v="490" actId="20577"/>
        <pc:sldMkLst>
          <pc:docMk/>
          <pc:sldMk cId="1747711068" sldId="314"/>
        </pc:sldMkLst>
        <pc:spChg chg="mod">
          <ac:chgData name="Melissa Dowse" userId="cd79fe79b5a07752" providerId="LiveId" clId="{76B1586B-AD93-4D4E-9814-B76B5EB1F21A}" dt="2020-06-07T20:24:11.229" v="141" actId="114"/>
          <ac:spMkLst>
            <pc:docMk/>
            <pc:sldMk cId="1747711068" sldId="314"/>
            <ac:spMk id="2" creationId="{55E9E476-8442-5543-A8E7-F0C858FFE8A0}"/>
          </ac:spMkLst>
        </pc:spChg>
        <pc:spChg chg="mod">
          <ac:chgData name="Melissa Dowse" userId="cd79fe79b5a07752" providerId="LiveId" clId="{76B1586B-AD93-4D4E-9814-B76B5EB1F21A}" dt="2020-06-07T20:29:49.746" v="490" actId="20577"/>
          <ac:spMkLst>
            <pc:docMk/>
            <pc:sldMk cId="1747711068" sldId="314"/>
            <ac:spMk id="3" creationId="{62C851EA-F782-D04D-8511-4F00992EBE5E}"/>
          </ac:spMkLst>
        </pc:spChg>
      </pc:sldChg>
      <pc:sldChg chg="modSp mod modAnim">
        <pc:chgData name="Melissa Dowse" userId="cd79fe79b5a07752" providerId="LiveId" clId="{76B1586B-AD93-4D4E-9814-B76B5EB1F21A}" dt="2020-06-07T21:35:58.283" v="1161" actId="15"/>
        <pc:sldMkLst>
          <pc:docMk/>
          <pc:sldMk cId="3818098417" sldId="321"/>
        </pc:sldMkLst>
        <pc:spChg chg="mod">
          <ac:chgData name="Melissa Dowse" userId="cd79fe79b5a07752" providerId="LiveId" clId="{76B1586B-AD93-4D4E-9814-B76B5EB1F21A}" dt="2020-06-07T21:23:34.852" v="1106" actId="255"/>
          <ac:spMkLst>
            <pc:docMk/>
            <pc:sldMk cId="3818098417" sldId="321"/>
            <ac:spMk id="2" creationId="{55E9E476-8442-5543-A8E7-F0C858FFE8A0}"/>
          </ac:spMkLst>
        </pc:spChg>
        <pc:spChg chg="mod">
          <ac:chgData name="Melissa Dowse" userId="cd79fe79b5a07752" providerId="LiveId" clId="{76B1586B-AD93-4D4E-9814-B76B5EB1F21A}" dt="2020-06-07T21:35:58.283" v="1161" actId="15"/>
          <ac:spMkLst>
            <pc:docMk/>
            <pc:sldMk cId="3818098417" sldId="321"/>
            <ac:spMk id="3" creationId="{62C851EA-F782-D04D-8511-4F00992EBE5E}"/>
          </ac:spMkLst>
        </pc:spChg>
      </pc:sldChg>
      <pc:sldChg chg="modSp mod modAnim">
        <pc:chgData name="Melissa Dowse" userId="cd79fe79b5a07752" providerId="LiveId" clId="{76B1586B-AD93-4D4E-9814-B76B5EB1F21A}" dt="2020-06-07T21:51:02.468" v="1409" actId="20577"/>
        <pc:sldMkLst>
          <pc:docMk/>
          <pc:sldMk cId="3175039195" sldId="322"/>
        </pc:sldMkLst>
        <pc:spChg chg="mod">
          <ac:chgData name="Melissa Dowse" userId="cd79fe79b5a07752" providerId="LiveId" clId="{76B1586B-AD93-4D4E-9814-B76B5EB1F21A}" dt="2020-06-07T21:41:08.467" v="1218" actId="20577"/>
          <ac:spMkLst>
            <pc:docMk/>
            <pc:sldMk cId="3175039195" sldId="322"/>
            <ac:spMk id="2" creationId="{55E9E476-8442-5543-A8E7-F0C858FFE8A0}"/>
          </ac:spMkLst>
        </pc:spChg>
        <pc:spChg chg="mod">
          <ac:chgData name="Melissa Dowse" userId="cd79fe79b5a07752" providerId="LiveId" clId="{76B1586B-AD93-4D4E-9814-B76B5EB1F21A}" dt="2020-06-07T21:51:02.468" v="1409" actId="20577"/>
          <ac:spMkLst>
            <pc:docMk/>
            <pc:sldMk cId="3175039195" sldId="322"/>
            <ac:spMk id="3" creationId="{62C851EA-F782-D04D-8511-4F00992EBE5E}"/>
          </ac:spMkLst>
        </pc:spChg>
      </pc:sldChg>
      <pc:sldChg chg="modSp mod modAnim">
        <pc:chgData name="Melissa Dowse" userId="cd79fe79b5a07752" providerId="LiveId" clId="{76B1586B-AD93-4D4E-9814-B76B5EB1F21A}" dt="2020-06-07T20:38:44.485" v="661" actId="27636"/>
        <pc:sldMkLst>
          <pc:docMk/>
          <pc:sldMk cId="376519969" sldId="323"/>
        </pc:sldMkLst>
        <pc:spChg chg="mod">
          <ac:chgData name="Melissa Dowse" userId="cd79fe79b5a07752" providerId="LiveId" clId="{76B1586B-AD93-4D4E-9814-B76B5EB1F21A}" dt="2020-06-07T20:30:08.381" v="517" actId="20577"/>
          <ac:spMkLst>
            <pc:docMk/>
            <pc:sldMk cId="376519969" sldId="323"/>
            <ac:spMk id="2" creationId="{55E9E476-8442-5543-A8E7-F0C858FFE8A0}"/>
          </ac:spMkLst>
        </pc:spChg>
        <pc:spChg chg="mod">
          <ac:chgData name="Melissa Dowse" userId="cd79fe79b5a07752" providerId="LiveId" clId="{76B1586B-AD93-4D4E-9814-B76B5EB1F21A}" dt="2020-06-07T20:38:44.485" v="661" actId="27636"/>
          <ac:spMkLst>
            <pc:docMk/>
            <pc:sldMk cId="376519969" sldId="323"/>
            <ac:spMk id="3" creationId="{62C851EA-F782-D04D-8511-4F00992EBE5E}"/>
          </ac:spMkLst>
        </pc:spChg>
      </pc:sldChg>
      <pc:sldChg chg="addSp delSp modSp del mod">
        <pc:chgData name="Melissa Dowse" userId="cd79fe79b5a07752" providerId="LiveId" clId="{76B1586B-AD93-4D4E-9814-B76B5EB1F21A}" dt="2020-06-07T20:23:47.504" v="107" actId="47"/>
        <pc:sldMkLst>
          <pc:docMk/>
          <pc:sldMk cId="849863012" sldId="324"/>
        </pc:sldMkLst>
        <pc:spChg chg="mod">
          <ac:chgData name="Melissa Dowse" userId="cd79fe79b5a07752" providerId="LiveId" clId="{76B1586B-AD93-4D4E-9814-B76B5EB1F21A}" dt="2020-06-07T20:20:42.171" v="51" actId="20577"/>
          <ac:spMkLst>
            <pc:docMk/>
            <pc:sldMk cId="849863012" sldId="324"/>
            <ac:spMk id="3" creationId="{62C851EA-F782-D04D-8511-4F00992EBE5E}"/>
          </ac:spMkLst>
        </pc:spChg>
        <pc:spChg chg="add mod">
          <ac:chgData name="Melissa Dowse" userId="cd79fe79b5a07752" providerId="LiveId" clId="{76B1586B-AD93-4D4E-9814-B76B5EB1F21A}" dt="2020-06-07T20:23:41.229" v="106" actId="20577"/>
          <ac:spMkLst>
            <pc:docMk/>
            <pc:sldMk cId="849863012" sldId="324"/>
            <ac:spMk id="6" creationId="{C383CB4F-88CC-4502-9B0E-A5399E9F99AE}"/>
          </ac:spMkLst>
        </pc:spChg>
        <pc:picChg chg="add del">
          <ac:chgData name="Melissa Dowse" userId="cd79fe79b5a07752" providerId="LiveId" clId="{76B1586B-AD93-4D4E-9814-B76B5EB1F21A}" dt="2020-06-07T20:20:47.756" v="53"/>
          <ac:picMkLst>
            <pc:docMk/>
            <pc:sldMk cId="849863012" sldId="324"/>
            <ac:picMk id="5" creationId="{A7CA2487-60D0-4520-B7F3-B0ABE6F1565D}"/>
          </ac:picMkLst>
        </pc:picChg>
      </pc:sldChg>
      <pc:sldChg chg="modSp mod modAnim">
        <pc:chgData name="Melissa Dowse" userId="cd79fe79b5a07752" providerId="LiveId" clId="{76B1586B-AD93-4D4E-9814-B76B5EB1F21A}" dt="2020-06-07T21:01:47.832" v="775" actId="113"/>
        <pc:sldMkLst>
          <pc:docMk/>
          <pc:sldMk cId="3476271157" sldId="325"/>
        </pc:sldMkLst>
        <pc:spChg chg="mod">
          <ac:chgData name="Melissa Dowse" userId="cd79fe79b5a07752" providerId="LiveId" clId="{76B1586B-AD93-4D4E-9814-B76B5EB1F21A}" dt="2020-06-07T20:42:12.092" v="698" actId="2711"/>
          <ac:spMkLst>
            <pc:docMk/>
            <pc:sldMk cId="3476271157" sldId="325"/>
            <ac:spMk id="2" creationId="{55E9E476-8442-5543-A8E7-F0C858FFE8A0}"/>
          </ac:spMkLst>
        </pc:spChg>
        <pc:spChg chg="mod">
          <ac:chgData name="Melissa Dowse" userId="cd79fe79b5a07752" providerId="LiveId" clId="{76B1586B-AD93-4D4E-9814-B76B5EB1F21A}" dt="2020-06-07T21:01:47.832" v="775" actId="113"/>
          <ac:spMkLst>
            <pc:docMk/>
            <pc:sldMk cId="3476271157" sldId="325"/>
            <ac:spMk id="3" creationId="{62C851EA-F782-D04D-8511-4F00992EBE5E}"/>
          </ac:spMkLst>
        </pc:spChg>
      </pc:sldChg>
      <pc:sldChg chg="modSp mod">
        <pc:chgData name="Melissa Dowse" userId="cd79fe79b5a07752" providerId="LiveId" clId="{76B1586B-AD93-4D4E-9814-B76B5EB1F21A}" dt="2020-06-07T21:16:40.147" v="1004" actId="20577"/>
        <pc:sldMkLst>
          <pc:docMk/>
          <pc:sldMk cId="1328607341" sldId="326"/>
        </pc:sldMkLst>
        <pc:spChg chg="mod">
          <ac:chgData name="Melissa Dowse" userId="cd79fe79b5a07752" providerId="LiveId" clId="{76B1586B-AD93-4D4E-9814-B76B5EB1F21A}" dt="2020-06-07T21:06:29.905" v="812" actId="114"/>
          <ac:spMkLst>
            <pc:docMk/>
            <pc:sldMk cId="1328607341" sldId="326"/>
            <ac:spMk id="2" creationId="{55E9E476-8442-5543-A8E7-F0C858FFE8A0}"/>
          </ac:spMkLst>
        </pc:spChg>
        <pc:spChg chg="mod">
          <ac:chgData name="Melissa Dowse" userId="cd79fe79b5a07752" providerId="LiveId" clId="{76B1586B-AD93-4D4E-9814-B76B5EB1F21A}" dt="2020-06-07T21:16:40.147" v="1004" actId="20577"/>
          <ac:spMkLst>
            <pc:docMk/>
            <pc:sldMk cId="1328607341" sldId="326"/>
            <ac:spMk id="3" creationId="{62C851EA-F782-D04D-8511-4F00992EBE5E}"/>
          </ac:spMkLst>
        </pc:spChg>
      </pc:sldChg>
      <pc:sldChg chg="modSp del mod">
        <pc:chgData name="Melissa Dowse" userId="cd79fe79b5a07752" providerId="LiveId" clId="{76B1586B-AD93-4D4E-9814-B76B5EB1F21A}" dt="2020-06-07T21:22:53.343" v="1033" actId="47"/>
        <pc:sldMkLst>
          <pc:docMk/>
          <pc:sldMk cId="971265524" sldId="328"/>
        </pc:sldMkLst>
        <pc:spChg chg="mod">
          <ac:chgData name="Melissa Dowse" userId="cd79fe79b5a07752" providerId="LiveId" clId="{76B1586B-AD93-4D4E-9814-B76B5EB1F21A}" dt="2020-06-07T21:22:48.543" v="1032" actId="20577"/>
          <ac:spMkLst>
            <pc:docMk/>
            <pc:sldMk cId="971265524" sldId="328"/>
            <ac:spMk id="3" creationId="{73D3D8B1-B5E1-F84C-AECE-9881E755283D}"/>
          </ac:spMkLst>
        </pc:spChg>
      </pc:sldChg>
      <pc:sldChg chg="del">
        <pc:chgData name="Melissa Dowse" userId="cd79fe79b5a07752" providerId="LiveId" clId="{76B1586B-AD93-4D4E-9814-B76B5EB1F21A}" dt="2020-06-07T21:40:51.209" v="1162" actId="47"/>
        <pc:sldMkLst>
          <pc:docMk/>
          <pc:sldMk cId="1150616204" sldId="32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FD29B-153C-44EF-8C2D-7682A80032C2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A3C15-81C5-4C28-8520-BC0EB0943D8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288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592FB9-FA85-44BB-9E89-52ACB8B6C54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1610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592FB9-FA85-44BB-9E89-52ACB8B6C54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0695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592FB9-FA85-44BB-9E89-52ACB8B6C54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3444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592FB9-FA85-44BB-9E89-52ACB8B6C54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6380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3021" y="-2022"/>
            <a:ext cx="12195021" cy="6861037"/>
            <a:chOff x="-2266" y="-2022"/>
            <a:chExt cx="9146266" cy="686103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screen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65825" y="1320447"/>
            <a:ext cx="7890236" cy="2554758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1965825" y="3965670"/>
            <a:ext cx="7890236" cy="1520729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 err="1"/>
              <a:t>Professorship</a:t>
            </a:r>
            <a:r>
              <a:rPr lang="de-DE" dirty="0"/>
              <a:t> Corporate law </a:t>
            </a:r>
          </a:p>
          <a:p>
            <a:r>
              <a:rPr lang="de-DE" dirty="0"/>
              <a:t>Campus Heilbronn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327525" y="0"/>
            <a:ext cx="9144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5A1D018C-6559-7A4B-981C-5E4108AB52F0}"/>
              </a:ext>
            </a:extLst>
          </p:cNvPr>
          <p:cNvSpPr/>
          <p:nvPr userDrawn="1"/>
        </p:nvSpPr>
        <p:spPr>
          <a:xfrm>
            <a:off x="10345363" y="-5129"/>
            <a:ext cx="9144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0000" bIns="108000"/>
          <a:lstStyle/>
          <a:p>
            <a:endParaRPr lang="de-DE" sz="1400" dirty="0"/>
          </a:p>
          <a:p>
            <a:endParaRPr lang="de-DE" sz="1400" dirty="0"/>
          </a:p>
          <a:p>
            <a:endParaRPr lang="de-DE" sz="1400" dirty="0"/>
          </a:p>
          <a:p>
            <a:fld id="{C05DBFD5-6ED5-CD44-A910-717F99551BD7}" type="slidenum">
              <a:rPr lang="de-DE" sz="1400" smtClean="0"/>
              <a:t>‹Nr.›</a:t>
            </a:fld>
            <a:endParaRPr lang="de-DE" sz="1400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BAF2551-8A32-4B35-8E24-522441D9DA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1347" y="5865886"/>
            <a:ext cx="2383552" cy="861419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BA0D7BA1-3295-4295-85E1-9B7F4238C48A}"/>
              </a:ext>
            </a:extLst>
          </p:cNvPr>
          <p:cNvSpPr/>
          <p:nvPr userDrawn="1"/>
        </p:nvSpPr>
        <p:spPr>
          <a:xfrm>
            <a:off x="2102990" y="5866393"/>
            <a:ext cx="7067136" cy="99160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01D599AF-278D-40B8-B1E4-A8B2A99DEDD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01" y="5866393"/>
            <a:ext cx="1445889" cy="99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189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012" y="177764"/>
            <a:ext cx="9789136" cy="821429"/>
          </a:xfrm>
          <a:prstGeom prst="rect">
            <a:avLst/>
          </a:prstGeom>
        </p:spPr>
        <p:txBody>
          <a:bodyPr tIns="144000"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013" y="1111815"/>
            <a:ext cx="11623196" cy="5261381"/>
          </a:xfrm>
        </p:spPr>
        <p:txBody>
          <a:bodyPr>
            <a:noAutofit/>
          </a:bodyPr>
          <a:lstStyle>
            <a:lvl1pPr marL="342900" indent="-342900">
              <a:buFont typeface="Wingdings" pitchFamily="2" charset="2"/>
              <a:buChar char="§"/>
              <a:defRPr sz="2800">
                <a:latin typeface="Georgia" panose="02040502050405020303" pitchFamily="18" charset="0"/>
              </a:defRPr>
            </a:lvl1pPr>
            <a:lvl2pPr marL="685800" indent="-283464">
              <a:buFont typeface="Arial" panose="020B0604020202020204" pitchFamily="34" charset="0"/>
              <a:buChar char="•"/>
              <a:defRPr sz="2400">
                <a:latin typeface="Georgia" panose="02040502050405020303" pitchFamily="18" charset="0"/>
              </a:defRPr>
            </a:lvl2pPr>
            <a:lvl3pPr marL="960120" indent="-228600">
              <a:buFont typeface="Symbol" pitchFamily="2" charset="2"/>
              <a:buChar char="-"/>
              <a:defRPr sz="2000">
                <a:latin typeface="Georgia" panose="02040502050405020303" pitchFamily="18" charset="0"/>
              </a:defRPr>
            </a:lvl3pPr>
            <a:lvl4pPr marL="1234440" indent="-228600">
              <a:buFont typeface="Wingdings 3" pitchFamily="2" charset="2"/>
              <a:buChar char=""/>
              <a:defRPr sz="1800">
                <a:latin typeface="Georgia" panose="02040502050405020303" pitchFamily="18" charset="0"/>
              </a:defRPr>
            </a:lvl4pPr>
            <a:lvl5pPr marL="1508760" indent="-228600">
              <a:buFont typeface="Wingdings" pitchFamily="2" charset="2"/>
              <a:buChar char="v"/>
              <a:defRPr sz="1800">
                <a:latin typeface="Georgia" panose="02040502050405020303" pitchFamily="18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87790" y="6535246"/>
            <a:ext cx="5146393" cy="228659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Magdalene Back | TUM School of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067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3021" y="-2022"/>
            <a:ext cx="12195021" cy="6861037"/>
            <a:chOff x="-2266" y="-2022"/>
            <a:chExt cx="9146266" cy="686103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screen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 sz="180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5258" y="2257589"/>
            <a:ext cx="4135684" cy="3020343"/>
          </a:xfrm>
          <a:prstGeom prst="rect">
            <a:avLst/>
          </a:prstGeom>
        </p:spPr>
        <p:txBody>
          <a:bodyPr anchor="ctr"/>
          <a:lstStyle>
            <a:lvl1pPr algn="l">
              <a:defRPr sz="3200" b="0" cap="none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third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5682" y="2257267"/>
            <a:ext cx="4072871" cy="3020345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F5373874-527E-BE4E-95BD-F93EE2DD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790" y="6535246"/>
            <a:ext cx="5146393" cy="228659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Magdalene Back | TUM School of Management</a:t>
            </a:r>
            <a:endParaRPr lang="en-US" dirty="0"/>
          </a:p>
        </p:txBody>
      </p:sp>
      <p:sp>
        <p:nvSpPr>
          <p:cNvPr id="23" name="Rectangle 28">
            <a:extLst>
              <a:ext uri="{FF2B5EF4-FFF2-40B4-BE49-F238E27FC236}">
                <a16:creationId xmlns:a16="http://schemas.microsoft.com/office/drawing/2014/main" id="{AD1F08AB-1382-E943-B03E-886E50D387BF}"/>
              </a:ext>
            </a:extLst>
          </p:cNvPr>
          <p:cNvSpPr/>
          <p:nvPr userDrawn="1"/>
        </p:nvSpPr>
        <p:spPr>
          <a:xfrm>
            <a:off x="10327525" y="0"/>
            <a:ext cx="9144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0000" bIns="108000"/>
          <a:lstStyle/>
          <a:p>
            <a:endParaRPr lang="de-DE" sz="1400" dirty="0"/>
          </a:p>
          <a:p>
            <a:endParaRPr lang="de-DE" sz="1400" dirty="0"/>
          </a:p>
          <a:p>
            <a:endParaRPr lang="de-DE" sz="1400" dirty="0"/>
          </a:p>
          <a:p>
            <a:fld id="{C05DBFD5-6ED5-CD44-A910-717F99551BD7}" type="slidenum">
              <a:rPr lang="de-DE" sz="1400" smtClean="0"/>
              <a:t>‹Nr.›</a:t>
            </a:fld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2617216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4518" y="1239133"/>
            <a:ext cx="4849305" cy="3530604"/>
          </a:xfrm>
        </p:spPr>
        <p:txBody>
          <a:bodyPr>
            <a:normAutofit/>
          </a:bodyPr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6705" y="1239134"/>
            <a:ext cx="4849308" cy="3553245"/>
          </a:xfrm>
        </p:spPr>
        <p:txBody>
          <a:bodyPr>
            <a:normAutofit/>
          </a:bodyPr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87790" y="6523671"/>
            <a:ext cx="5146393" cy="228659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Magdalene Back | TUM School of Management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0BB7484-664C-C54C-98A2-0B216007D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12" y="128336"/>
            <a:ext cx="9789136" cy="821429"/>
          </a:xfrm>
          <a:prstGeom prst="rect">
            <a:avLst/>
          </a:prstGeom>
        </p:spPr>
        <p:txBody>
          <a:bodyPr tIns="144000"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189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4520" y="1347096"/>
            <a:ext cx="4849305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4520" y="2105937"/>
            <a:ext cx="4849304" cy="2771761"/>
          </a:xfrm>
        </p:spPr>
        <p:txBody>
          <a:bodyPr>
            <a:normAutofit/>
          </a:bodyPr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6705" y="1346646"/>
            <a:ext cx="4849307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6707" y="2105936"/>
            <a:ext cx="4849307" cy="2773909"/>
          </a:xfrm>
        </p:spPr>
        <p:txBody>
          <a:bodyPr>
            <a:normAutofit/>
          </a:bodyPr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3A965C7-8886-F548-9036-28A04D519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790" y="6535246"/>
            <a:ext cx="5146393" cy="228659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Magdalene Back | TUM School of Management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4F496D3-A0E8-3A41-B1C0-69D3678AE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12" y="128336"/>
            <a:ext cx="9789136" cy="821429"/>
          </a:xfrm>
          <a:prstGeom prst="rect">
            <a:avLst/>
          </a:prstGeom>
        </p:spPr>
        <p:txBody>
          <a:bodyPr tIns="144000"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049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38AA2BE-08C8-A041-995F-B910FD055E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0149" y="6539148"/>
            <a:ext cx="1320799" cy="22865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5198225-1F93-A643-A355-F4E104807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790" y="6535246"/>
            <a:ext cx="5146393" cy="22865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Magdalene Back | TUM School of Management</a:t>
            </a:r>
            <a:endParaRPr lang="en-US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B14BCD6E-2724-FC4F-86CB-312638C465FB}"/>
              </a:ext>
            </a:extLst>
          </p:cNvPr>
          <p:cNvSpPr/>
          <p:nvPr userDrawn="1"/>
        </p:nvSpPr>
        <p:spPr>
          <a:xfrm>
            <a:off x="10327525" y="0"/>
            <a:ext cx="9144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0000" bIns="108000"/>
          <a:lstStyle/>
          <a:p>
            <a:endParaRPr lang="de-DE" sz="1400" dirty="0"/>
          </a:p>
          <a:p>
            <a:endParaRPr lang="de-DE" sz="1400" dirty="0"/>
          </a:p>
          <a:p>
            <a:endParaRPr lang="de-DE" sz="1400" dirty="0"/>
          </a:p>
          <a:p>
            <a:fld id="{C05DBFD5-6ED5-CD44-A910-717F99551BD7}" type="slidenum">
              <a:rPr lang="de-DE" sz="1400" smtClean="0"/>
              <a:t>‹Nr.›</a:t>
            </a:fld>
            <a:endParaRPr lang="de-DE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5C9AA84-911C-A64C-9D05-BA17B6CB6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12" y="128336"/>
            <a:ext cx="9789136" cy="821429"/>
          </a:xfrm>
          <a:prstGeom prst="rect">
            <a:avLst/>
          </a:prstGeom>
        </p:spPr>
        <p:txBody>
          <a:bodyPr tIns="144000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479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425451" y="1978721"/>
            <a:ext cx="11345332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11130180" y="6408271"/>
            <a:ext cx="766981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Magdalene Back | TUM School of Management</a:t>
            </a:r>
            <a:endParaRPr lang="en-US" dirty="0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582014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219ACAA3-6D14-0D4A-84A4-ED9663C7918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69654" y="176747"/>
            <a:ext cx="11652692" cy="812138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653" y="1250711"/>
            <a:ext cx="11652691" cy="5037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7790" y="6558391"/>
            <a:ext cx="5146393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Magdalene Back | TUM School of Management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10327525" y="0"/>
            <a:ext cx="9144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0000" bIns="108000"/>
          <a:lstStyle/>
          <a:p>
            <a:endParaRPr lang="de-DE" sz="1400" dirty="0"/>
          </a:p>
          <a:p>
            <a:endParaRPr lang="de-DE" sz="1400" dirty="0"/>
          </a:p>
          <a:p>
            <a:endParaRPr lang="de-DE" sz="1400" dirty="0"/>
          </a:p>
          <a:p>
            <a:fld id="{C05DBFD5-6ED5-CD44-A910-717F99551BD7}" type="slidenum">
              <a:rPr lang="de-DE" sz="1400" smtClean="0"/>
              <a:t>‹Nr.›</a:t>
            </a:fld>
            <a:endParaRPr lang="de-DE" sz="140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F12C9FB-331C-5D41-9249-E16A851C43AC}"/>
              </a:ext>
            </a:extLst>
          </p:cNvPr>
          <p:cNvSpPr txBox="1">
            <a:spLocks/>
          </p:cNvSpPr>
          <p:nvPr userDrawn="1"/>
        </p:nvSpPr>
        <p:spPr>
          <a:xfrm>
            <a:off x="291012" y="128336"/>
            <a:ext cx="9789136" cy="70986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30049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7" r:id="rId6"/>
    <p:sldLayoutId id="2147483678" r:id="rId7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DDC931-1D65-4255-8C0C-1B366440B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865" y="712099"/>
            <a:ext cx="9456155" cy="3787165"/>
          </a:xfrm>
          <a:ln>
            <a:solidFill>
              <a:schemeClr val="bg1"/>
            </a:solidFill>
          </a:ln>
        </p:spPr>
        <p:txBody>
          <a:bodyPr/>
          <a:lstStyle/>
          <a:p>
            <a:pPr algn="ctr"/>
            <a:br>
              <a:rPr lang="de-DE" sz="4400" b="1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de-DE" sz="4400" dirty="0" err="1"/>
              <a:t>Professorship</a:t>
            </a:r>
            <a:r>
              <a:rPr lang="de-DE" sz="4400" dirty="0"/>
              <a:t> </a:t>
            </a:r>
            <a:r>
              <a:rPr lang="de-DE" sz="4400" dirty="0" err="1"/>
              <a:t>of</a:t>
            </a:r>
            <a:r>
              <a:rPr lang="de-DE" sz="4400" dirty="0"/>
              <a:t> Corporate Law</a:t>
            </a:r>
            <a:br>
              <a:rPr lang="de-DE" sz="4400" dirty="0"/>
            </a:br>
            <a:r>
              <a:rPr lang="de-DE" sz="3600" dirty="0"/>
              <a:t>Prof. Dr. Stefanie Jung, M.A. (</a:t>
            </a:r>
            <a:r>
              <a:rPr lang="de-DE" sz="3600" dirty="0" err="1"/>
              <a:t>CoE</a:t>
            </a:r>
            <a:r>
              <a:rPr lang="de-DE" sz="3600" dirty="0"/>
              <a:t>)</a:t>
            </a:r>
            <a:br>
              <a:rPr lang="de-DE" sz="3600" dirty="0"/>
            </a:br>
            <a:r>
              <a:rPr lang="de-DE" sz="3600" dirty="0"/>
              <a:t> </a:t>
            </a:r>
            <a:br>
              <a:rPr lang="de-DE" sz="4400"/>
            </a:br>
            <a:r>
              <a:rPr lang="de-DE" sz="4400" b="1">
                <a:latin typeface="Helvetica" panose="020B0604020202020204" pitchFamily="34" charset="0"/>
                <a:cs typeface="Helvetica" panose="020B0604020202020204" pitchFamily="34" charset="0"/>
              </a:rPr>
              <a:t>Business </a:t>
            </a:r>
            <a:r>
              <a:rPr lang="de-DE" sz="4400" b="1" dirty="0">
                <a:latin typeface="Helvetica" panose="020B0604020202020204" pitchFamily="34" charset="0"/>
                <a:cs typeface="Helvetica" panose="020B0604020202020204" pitchFamily="34" charset="0"/>
              </a:rPr>
              <a:t>Law</a:t>
            </a:r>
            <a:br>
              <a:rPr lang="de-DE" dirty="0"/>
            </a:br>
            <a:r>
              <a:rPr lang="de-DE" sz="3600" dirty="0"/>
              <a:t>Agency</a:t>
            </a:r>
            <a:br>
              <a:rPr lang="de-DE" sz="3600" dirty="0"/>
            </a:br>
            <a:endParaRPr lang="de-DE" sz="3200" dirty="0"/>
          </a:p>
        </p:txBody>
      </p:sp>
      <p:sp>
        <p:nvSpPr>
          <p:cNvPr id="4" name="Rechteck 3"/>
          <p:cNvSpPr/>
          <p:nvPr/>
        </p:nvSpPr>
        <p:spPr>
          <a:xfrm>
            <a:off x="7377545" y="4062845"/>
            <a:ext cx="3262746" cy="15794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7864647" y="4852554"/>
            <a:ext cx="2774373" cy="64633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Summer</a:t>
            </a:r>
            <a:r>
              <a:rPr kumimoji="0" lang="de-DE" sz="18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lang="de-DE" dirty="0">
                <a:solidFill>
                  <a:prstClr val="white"/>
                </a:solidFill>
                <a:latin typeface="Century Gothic" panose="020B0502020202020204"/>
              </a:rPr>
              <a:t>T</a:t>
            </a:r>
            <a:r>
              <a:rPr kumimoji="0" lang="de-DE" sz="18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erm</a:t>
            </a:r>
            <a:r>
              <a:rPr kumimoji="0" lang="de-DE" sz="18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2026</a:t>
            </a:r>
            <a:b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</a:b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2191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Case 1a) – Facts</a:t>
            </a:r>
            <a:endParaRPr lang="en-GB" i="1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D and her friend (F) are on the way to Croatia for their summer vacation. Halfway there, the tank of D’s car is empty. As D is exhausted from the long car journey, she gives F a 100€ banknote and asks if he can “fill up the tank” for her. This is no problem for F.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F fills up the tank at the filling station under observation of attendant A. Afterwards, F silently pays for the tank of fuel at A's cash register and goes back to the car.</a:t>
            </a:r>
          </a:p>
          <a:p>
            <a:pPr marL="0" indent="0" algn="just">
              <a:buNone/>
            </a:pPr>
            <a:endParaRPr lang="en-US" sz="4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chemeClr val="tx1"/>
                </a:solidFill>
              </a:rPr>
              <a:t>Question: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Did F effectively represent D when he concluded the contract with A?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DB51F0EB-99CF-4CBD-BB7C-DD22015D2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790" y="6535246"/>
            <a:ext cx="5146393" cy="228659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srgbClr val="B01513"/>
                </a:solidFill>
              </a:rPr>
              <a:t>Magdalene Back | TUM School of Management</a:t>
            </a:r>
          </a:p>
        </p:txBody>
      </p:sp>
    </p:spTree>
    <p:extLst>
      <p:ext uri="{BB962C8B-B14F-4D97-AF65-F5344CB8AC3E}">
        <p14:creationId xmlns:p14="http://schemas.microsoft.com/office/powerpoint/2010/main" val="1010122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Case 1b) – Facts</a:t>
            </a:r>
            <a:endParaRPr lang="en-GB" i="1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chemeClr val="tx1"/>
                </a:solidFill>
              </a:rPr>
              <a:t>Differently than in the initial case, F should bring only some snacks from the filling station. Therefore D gives F a 20€ banknote. 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chemeClr val="tx1"/>
                </a:solidFill>
              </a:rPr>
              <a:t>As F is about to pay for the snacks, he sees the display for the current price of fuel and thinks: “This is an unbeatable low price that D shouldn’t miss”. F asks A to wait a moment so that he can refuel quickly in the name of his friend D.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chemeClr val="tx1"/>
                </a:solidFill>
              </a:rPr>
              <a:t>When F tells D about his spontaneous idea and asks for some more money to pay the fuel, D is shocked. Behind the border the fuel would have been much cheaper. Under no circumstances does she want to pay for the expensive fuel. So A demands the purchase price from F who is responsible for this mess.</a:t>
            </a:r>
          </a:p>
          <a:p>
            <a:pPr marL="0" indent="0" algn="just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chemeClr val="tx1"/>
                </a:solidFill>
              </a:rPr>
              <a:t>Question: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chemeClr val="tx1"/>
                </a:solidFill>
              </a:rPr>
              <a:t>Can A demand the purchase price for the fuel from F?</a:t>
            </a:r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DB51F0EB-99CF-4CBD-BB7C-DD22015D2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790" y="6535246"/>
            <a:ext cx="5146393" cy="228659"/>
          </a:xfrm>
        </p:spPr>
        <p:txBody>
          <a:bodyPr/>
          <a:lstStyle/>
          <a:p>
            <a:pPr lvl="0">
              <a:defRPr/>
            </a:pPr>
            <a:r>
              <a:rPr lang="en-US">
                <a:solidFill>
                  <a:srgbClr val="B01513"/>
                </a:solidFill>
              </a:rPr>
              <a:t>Magdalene Back | TUM School of Management</a:t>
            </a:r>
            <a:endParaRPr lang="en-US" dirty="0">
              <a:solidFill>
                <a:srgbClr val="B0151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132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Case 2 – Facts</a:t>
            </a:r>
            <a:endParaRPr lang="en-GB" i="1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600" dirty="0">
                <a:solidFill>
                  <a:schemeClr val="tx1"/>
                </a:solidFill>
              </a:rPr>
              <a:t>Student (S) wants to buy a new laptop. As he has to study for his Business Law class, he has no time to visit the local electronics store (E-</a:t>
            </a:r>
            <a:r>
              <a:rPr lang="en-US" sz="2600" dirty="0" err="1">
                <a:solidFill>
                  <a:schemeClr val="tx1"/>
                </a:solidFill>
              </a:rPr>
              <a:t>oHG</a:t>
            </a:r>
            <a:r>
              <a:rPr lang="en-US" sz="2600" dirty="0">
                <a:solidFill>
                  <a:schemeClr val="tx1"/>
                </a:solidFill>
              </a:rPr>
              <a:t>). To make matters worse, his internet connection has broken down. So he writes a letter to the store manager (M) in which he authorizes his girlfriend (G) to buy a notebook. </a:t>
            </a:r>
          </a:p>
          <a:p>
            <a:pPr marL="0" indent="0" algn="just">
              <a:buNone/>
            </a:pPr>
            <a:r>
              <a:rPr lang="en-US" sz="2600" dirty="0">
                <a:solidFill>
                  <a:schemeClr val="tx1"/>
                </a:solidFill>
              </a:rPr>
              <a:t>A few days later, G chooses a laptop to S's liking in the store and buys it with reference to the letter from S. M takes care of the payment process.</a:t>
            </a:r>
          </a:p>
          <a:p>
            <a:pPr marL="0" indent="0" algn="just">
              <a:buNone/>
            </a:pPr>
            <a:endParaRPr lang="en-US" sz="10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sz="2600" b="1" dirty="0">
                <a:solidFill>
                  <a:schemeClr val="tx1"/>
                </a:solidFill>
              </a:rPr>
              <a:t>Questions:</a:t>
            </a:r>
          </a:p>
          <a:p>
            <a:pPr marL="0" indent="0" algn="just">
              <a:buNone/>
            </a:pPr>
            <a:r>
              <a:rPr lang="en-US" sz="2600" dirty="0">
                <a:solidFill>
                  <a:schemeClr val="tx1"/>
                </a:solidFill>
              </a:rPr>
              <a:t>a) Did G effectively represent S?</a:t>
            </a:r>
          </a:p>
          <a:p>
            <a:pPr marL="0" indent="0" algn="just">
              <a:buNone/>
            </a:pPr>
            <a:r>
              <a:rPr lang="en-US" sz="2600" dirty="0">
                <a:solidFill>
                  <a:schemeClr val="tx1"/>
                </a:solidFill>
              </a:rPr>
              <a:t>b) Did M effectively represent E-</a:t>
            </a:r>
            <a:r>
              <a:rPr lang="en-US" sz="2600" dirty="0" err="1">
                <a:solidFill>
                  <a:schemeClr val="tx1"/>
                </a:solidFill>
              </a:rPr>
              <a:t>oHG</a:t>
            </a:r>
            <a:r>
              <a:rPr lang="en-US" sz="2600" dirty="0">
                <a:solidFill>
                  <a:schemeClr val="tx1"/>
                </a:solidFill>
              </a:rPr>
              <a:t>?</a:t>
            </a:r>
          </a:p>
          <a:p>
            <a:pPr marL="0" indent="0" algn="just">
              <a:buNone/>
            </a:pPr>
            <a:r>
              <a:rPr lang="en-US" sz="2600" dirty="0">
                <a:solidFill>
                  <a:schemeClr val="tx1"/>
                </a:solidFill>
              </a:rPr>
              <a:t>c) Did S and the E-</a:t>
            </a:r>
            <a:r>
              <a:rPr lang="en-US" sz="2600" dirty="0" err="1">
                <a:solidFill>
                  <a:schemeClr val="tx1"/>
                </a:solidFill>
              </a:rPr>
              <a:t>oHG</a:t>
            </a:r>
            <a:r>
              <a:rPr lang="en-US" sz="2600" dirty="0">
                <a:solidFill>
                  <a:schemeClr val="tx1"/>
                </a:solidFill>
              </a:rPr>
              <a:t> conclude a purchase agreement?</a:t>
            </a:r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DB51F0EB-99CF-4CBD-BB7C-DD22015D2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790" y="6535246"/>
            <a:ext cx="5146393" cy="228659"/>
          </a:xfrm>
        </p:spPr>
        <p:txBody>
          <a:bodyPr/>
          <a:lstStyle/>
          <a:p>
            <a:pPr lvl="0">
              <a:defRPr/>
            </a:pPr>
            <a:r>
              <a:rPr lang="en-US">
                <a:solidFill>
                  <a:srgbClr val="B01513"/>
                </a:solidFill>
              </a:rPr>
              <a:t>Magdalene Back | TUM School of Management</a:t>
            </a:r>
            <a:endParaRPr lang="en-US" dirty="0">
              <a:solidFill>
                <a:srgbClr val="B0151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1204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Case 3 – Facts</a:t>
            </a:r>
            <a:endParaRPr lang="en-GB" i="1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Adam (A) and Eve (E) are both directors of the Paradise-GmbH (P-GmbH). The business of the P-GmbH is to buy apples, process them and sell the finished products.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On December 1</a:t>
            </a:r>
            <a:r>
              <a:rPr lang="en-US" baseline="30000" dirty="0">
                <a:solidFill>
                  <a:schemeClr val="tx1"/>
                </a:solidFill>
              </a:rPr>
              <a:t>st</a:t>
            </a:r>
            <a:r>
              <a:rPr lang="en-US" dirty="0">
                <a:solidFill>
                  <a:schemeClr val="tx1"/>
                </a:solidFill>
              </a:rPr>
              <a:t>, E orders on behalf of the P-GmbH a large amount of apples from farmer F. E plans to produce candied apples and sell them in the winter time. With this new business idea E hopes to make a lot of profit.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A few days later, F calls the P-GmbH's business number to demand payment for the apples delivered. A answers the phone and is surprised. He’s not convinced of this new business idea. In addition, E and A have never agreed that either of them can act alone on behalf of the P-GmbH .</a:t>
            </a: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chemeClr val="tx1"/>
                </a:solidFill>
              </a:rPr>
              <a:t>Question: </a:t>
            </a:r>
            <a:r>
              <a:rPr lang="en-US" dirty="0">
                <a:solidFill>
                  <a:schemeClr val="tx1"/>
                </a:solidFill>
              </a:rPr>
              <a:t>Did F and the P-GmbH conclude a contract?</a:t>
            </a:r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DB51F0EB-99CF-4CBD-BB7C-DD22015D2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790" y="6535246"/>
            <a:ext cx="5146393" cy="228659"/>
          </a:xfrm>
        </p:spPr>
        <p:txBody>
          <a:bodyPr/>
          <a:lstStyle/>
          <a:p>
            <a:pPr lvl="0">
              <a:defRPr/>
            </a:pPr>
            <a:r>
              <a:rPr lang="en-US">
                <a:solidFill>
                  <a:srgbClr val="B01513"/>
                </a:solidFill>
              </a:rPr>
              <a:t>Magdalene Back | TUM School of Management</a:t>
            </a:r>
            <a:endParaRPr lang="en-US" dirty="0">
              <a:solidFill>
                <a:srgbClr val="B0151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2081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Ion-Sitzungssaal">
  <a:themeElements>
    <a:clrScheme name="Ion-Sitzungssaal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-Sitzungssaal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-Sitzungssaal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orlage" id="{53119835-39BC-7D42-A027-E219E75CB5CE}" vid="{942766AC-F657-6145-ABD9-0C9265830DA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649</Words>
  <Application>Microsoft Office PowerPoint</Application>
  <PresentationFormat>Breitbild</PresentationFormat>
  <Paragraphs>37</Paragraphs>
  <Slides>5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4" baseType="lpstr">
      <vt:lpstr>Arial</vt:lpstr>
      <vt:lpstr>Calibri</vt:lpstr>
      <vt:lpstr>Century Gothic</vt:lpstr>
      <vt:lpstr>Georgia</vt:lpstr>
      <vt:lpstr>Helvetica</vt:lpstr>
      <vt:lpstr>Symbol</vt:lpstr>
      <vt:lpstr>Wingdings</vt:lpstr>
      <vt:lpstr>Wingdings 3</vt:lpstr>
      <vt:lpstr>1_Ion-Sitzungssaal</vt:lpstr>
      <vt:lpstr> Professorship of Corporate Law Prof. Dr. Stefanie Jung, M.A. (CoE)   Business Law Agency </vt:lpstr>
      <vt:lpstr>Case 1a) – Facts</vt:lpstr>
      <vt:lpstr>Case 1b) – Facts</vt:lpstr>
      <vt:lpstr>Case 2 – Facts</vt:lpstr>
      <vt:lpstr>Case 3 – Facts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Agency</dc:title>
  <dc:creator>anne-kathrin.haag@tum.de</dc:creator>
  <cp:lastModifiedBy>Magdalene Back</cp:lastModifiedBy>
  <cp:revision>838</cp:revision>
  <dcterms:created xsi:type="dcterms:W3CDTF">2020-06-07T14:29:27Z</dcterms:created>
  <dcterms:modified xsi:type="dcterms:W3CDTF">2026-06-02T06:21:14Z</dcterms:modified>
</cp:coreProperties>
</file>