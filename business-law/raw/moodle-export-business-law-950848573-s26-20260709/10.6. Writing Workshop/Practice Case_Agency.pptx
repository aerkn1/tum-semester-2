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3"/>
  </p:notesMasterIdLst>
  <p:sldIdLst>
    <p:sldId id="787" r:id="rId2"/>
    <p:sldId id="788" r:id="rId3"/>
    <p:sldId id="777" r:id="rId4"/>
    <p:sldId id="776" r:id="rId5"/>
    <p:sldId id="770" r:id="rId6"/>
    <p:sldId id="783" r:id="rId7"/>
    <p:sldId id="772" r:id="rId8"/>
    <p:sldId id="773" r:id="rId9"/>
    <p:sldId id="784" r:id="rId10"/>
    <p:sldId id="778" r:id="rId11"/>
    <p:sldId id="781"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2A547EB9-2094-40E3-8A47-DB4C9969E219}">
          <p14:sldIdLst>
            <p14:sldId id="787"/>
            <p14:sldId id="788"/>
            <p14:sldId id="777"/>
            <p14:sldId id="776"/>
            <p14:sldId id="770"/>
            <p14:sldId id="783"/>
            <p14:sldId id="772"/>
            <p14:sldId id="773"/>
            <p14:sldId id="784"/>
            <p14:sldId id="778"/>
            <p14:sldId id="78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lsing, Nikita" initials="RN" lastIdx="1" clrIdx="1">
    <p:extLst>
      <p:ext uri="{19B8F6BF-5375-455C-9EA6-DF929625EA0E}">
        <p15:presenceInfo xmlns:p15="http://schemas.microsoft.com/office/powerpoint/2012/main" userId="Rolsing, Nikit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3800" autoAdjust="0"/>
  </p:normalViewPr>
  <p:slideViewPr>
    <p:cSldViewPr snapToGrid="0">
      <p:cViewPr varScale="1">
        <p:scale>
          <a:sx n="77" d="100"/>
          <a:sy n="77" d="100"/>
        </p:scale>
        <p:origin x="288" y="60"/>
      </p:cViewPr>
      <p:guideLst/>
    </p:cSldViewPr>
  </p:slideViewPr>
  <p:notesTextViewPr>
    <p:cViewPr>
      <p:scale>
        <a:sx n="1" d="1"/>
        <a:sy n="1" d="1"/>
      </p:scale>
      <p:origin x="0" y="0"/>
    </p:cViewPr>
  </p:notesTextViewPr>
  <p:sorterViewPr>
    <p:cViewPr>
      <p:scale>
        <a:sx n="100" d="100"/>
        <a:sy n="100" d="100"/>
      </p:scale>
      <p:origin x="0" y="-45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issa Dowse" userId="cd79fe79b5a07752" providerId="LiveId" clId="{76B1586B-AD93-4D4E-9814-B76B5EB1F21A}"/>
    <pc:docChg chg="undo custSel delSld modSld">
      <pc:chgData name="Melissa Dowse" userId="cd79fe79b5a07752" providerId="LiveId" clId="{76B1586B-AD93-4D4E-9814-B76B5EB1F21A}" dt="2020-06-07T21:51:02.468" v="1409" actId="20577"/>
      <pc:docMkLst>
        <pc:docMk/>
      </pc:docMkLst>
      <pc:sldChg chg="del">
        <pc:chgData name="Melissa Dowse" userId="cd79fe79b5a07752" providerId="LiveId" clId="{76B1586B-AD93-4D4E-9814-B76B5EB1F21A}" dt="2020-06-07T21:06:01.505" v="776" actId="47"/>
        <pc:sldMkLst>
          <pc:docMk/>
          <pc:sldMk cId="3193463848" sldId="300"/>
        </pc:sldMkLst>
      </pc:sldChg>
      <pc:sldChg chg="addSp modSp mod modAnim">
        <pc:chgData name="Melissa Dowse" userId="cd79fe79b5a07752" providerId="LiveId" clId="{76B1586B-AD93-4D4E-9814-B76B5EB1F21A}" dt="2020-06-07T20:13:15.222" v="50" actId="2711"/>
        <pc:sldMkLst>
          <pc:docMk/>
          <pc:sldMk cId="644200978" sldId="311"/>
        </pc:sldMkLst>
        <pc:spChg chg="mod">
          <ac:chgData name="Melissa Dowse" userId="cd79fe79b5a07752" providerId="LiveId" clId="{76B1586B-AD93-4D4E-9814-B76B5EB1F21A}" dt="2020-06-07T20:13:15.222" v="50" actId="2711"/>
          <ac:spMkLst>
            <pc:docMk/>
            <pc:sldMk cId="644200978" sldId="311"/>
            <ac:spMk id="3" creationId="{62C851EA-F782-D04D-8511-4F00992EBE5E}"/>
          </ac:spMkLst>
        </pc:spChg>
        <pc:spChg chg="add mod">
          <ac:chgData name="Melissa Dowse" userId="cd79fe79b5a07752" providerId="LiveId" clId="{76B1586B-AD93-4D4E-9814-B76B5EB1F21A}" dt="2020-06-07T20:12:38.622" v="37" actId="1076"/>
          <ac:spMkLst>
            <pc:docMk/>
            <pc:sldMk cId="644200978" sldId="311"/>
            <ac:spMk id="5" creationId="{B6C41224-7C3E-4E56-9298-0850DF8ED476}"/>
          </ac:spMkLst>
        </pc:spChg>
      </pc:sldChg>
      <pc:sldChg chg="modSp mod">
        <pc:chgData name="Melissa Dowse" userId="cd79fe79b5a07752" providerId="LiveId" clId="{76B1586B-AD93-4D4E-9814-B76B5EB1F21A}" dt="2020-06-07T20:29:49.746" v="490" actId="20577"/>
        <pc:sldMkLst>
          <pc:docMk/>
          <pc:sldMk cId="1747711068" sldId="314"/>
        </pc:sldMkLst>
        <pc:spChg chg="mod">
          <ac:chgData name="Melissa Dowse" userId="cd79fe79b5a07752" providerId="LiveId" clId="{76B1586B-AD93-4D4E-9814-B76B5EB1F21A}" dt="2020-06-07T20:24:11.229" v="141" actId="114"/>
          <ac:spMkLst>
            <pc:docMk/>
            <pc:sldMk cId="1747711068" sldId="314"/>
            <ac:spMk id="2" creationId="{55E9E476-8442-5543-A8E7-F0C858FFE8A0}"/>
          </ac:spMkLst>
        </pc:spChg>
        <pc:spChg chg="mod">
          <ac:chgData name="Melissa Dowse" userId="cd79fe79b5a07752" providerId="LiveId" clId="{76B1586B-AD93-4D4E-9814-B76B5EB1F21A}" dt="2020-06-07T20:29:49.746" v="490" actId="20577"/>
          <ac:spMkLst>
            <pc:docMk/>
            <pc:sldMk cId="1747711068" sldId="314"/>
            <ac:spMk id="3" creationId="{62C851EA-F782-D04D-8511-4F00992EBE5E}"/>
          </ac:spMkLst>
        </pc:spChg>
      </pc:sldChg>
      <pc:sldChg chg="modSp mod modAnim">
        <pc:chgData name="Melissa Dowse" userId="cd79fe79b5a07752" providerId="LiveId" clId="{76B1586B-AD93-4D4E-9814-B76B5EB1F21A}" dt="2020-06-07T21:35:58.283" v="1161" actId="15"/>
        <pc:sldMkLst>
          <pc:docMk/>
          <pc:sldMk cId="3818098417" sldId="321"/>
        </pc:sldMkLst>
        <pc:spChg chg="mod">
          <ac:chgData name="Melissa Dowse" userId="cd79fe79b5a07752" providerId="LiveId" clId="{76B1586B-AD93-4D4E-9814-B76B5EB1F21A}" dt="2020-06-07T21:23:34.852" v="1106" actId="255"/>
          <ac:spMkLst>
            <pc:docMk/>
            <pc:sldMk cId="3818098417" sldId="321"/>
            <ac:spMk id="2" creationId="{55E9E476-8442-5543-A8E7-F0C858FFE8A0}"/>
          </ac:spMkLst>
        </pc:spChg>
        <pc:spChg chg="mod">
          <ac:chgData name="Melissa Dowse" userId="cd79fe79b5a07752" providerId="LiveId" clId="{76B1586B-AD93-4D4E-9814-B76B5EB1F21A}" dt="2020-06-07T21:35:58.283" v="1161" actId="15"/>
          <ac:spMkLst>
            <pc:docMk/>
            <pc:sldMk cId="3818098417" sldId="321"/>
            <ac:spMk id="3" creationId="{62C851EA-F782-D04D-8511-4F00992EBE5E}"/>
          </ac:spMkLst>
        </pc:spChg>
      </pc:sldChg>
      <pc:sldChg chg="modSp mod modAnim">
        <pc:chgData name="Melissa Dowse" userId="cd79fe79b5a07752" providerId="LiveId" clId="{76B1586B-AD93-4D4E-9814-B76B5EB1F21A}" dt="2020-06-07T21:51:02.468" v="1409" actId="20577"/>
        <pc:sldMkLst>
          <pc:docMk/>
          <pc:sldMk cId="3175039195" sldId="322"/>
        </pc:sldMkLst>
        <pc:spChg chg="mod">
          <ac:chgData name="Melissa Dowse" userId="cd79fe79b5a07752" providerId="LiveId" clId="{76B1586B-AD93-4D4E-9814-B76B5EB1F21A}" dt="2020-06-07T21:41:08.467" v="1218" actId="20577"/>
          <ac:spMkLst>
            <pc:docMk/>
            <pc:sldMk cId="3175039195" sldId="322"/>
            <ac:spMk id="2" creationId="{55E9E476-8442-5543-A8E7-F0C858FFE8A0}"/>
          </ac:spMkLst>
        </pc:spChg>
        <pc:spChg chg="mod">
          <ac:chgData name="Melissa Dowse" userId="cd79fe79b5a07752" providerId="LiveId" clId="{76B1586B-AD93-4D4E-9814-B76B5EB1F21A}" dt="2020-06-07T21:51:02.468" v="1409" actId="20577"/>
          <ac:spMkLst>
            <pc:docMk/>
            <pc:sldMk cId="3175039195" sldId="322"/>
            <ac:spMk id="3" creationId="{62C851EA-F782-D04D-8511-4F00992EBE5E}"/>
          </ac:spMkLst>
        </pc:spChg>
      </pc:sldChg>
      <pc:sldChg chg="modSp mod modAnim">
        <pc:chgData name="Melissa Dowse" userId="cd79fe79b5a07752" providerId="LiveId" clId="{76B1586B-AD93-4D4E-9814-B76B5EB1F21A}" dt="2020-06-07T20:38:44.485" v="661" actId="27636"/>
        <pc:sldMkLst>
          <pc:docMk/>
          <pc:sldMk cId="376519969" sldId="323"/>
        </pc:sldMkLst>
        <pc:spChg chg="mod">
          <ac:chgData name="Melissa Dowse" userId="cd79fe79b5a07752" providerId="LiveId" clId="{76B1586B-AD93-4D4E-9814-B76B5EB1F21A}" dt="2020-06-07T20:30:08.381" v="517" actId="20577"/>
          <ac:spMkLst>
            <pc:docMk/>
            <pc:sldMk cId="376519969" sldId="323"/>
            <ac:spMk id="2" creationId="{55E9E476-8442-5543-A8E7-F0C858FFE8A0}"/>
          </ac:spMkLst>
        </pc:spChg>
        <pc:spChg chg="mod">
          <ac:chgData name="Melissa Dowse" userId="cd79fe79b5a07752" providerId="LiveId" clId="{76B1586B-AD93-4D4E-9814-B76B5EB1F21A}" dt="2020-06-07T20:38:44.485" v="661" actId="27636"/>
          <ac:spMkLst>
            <pc:docMk/>
            <pc:sldMk cId="376519969" sldId="323"/>
            <ac:spMk id="3" creationId="{62C851EA-F782-D04D-8511-4F00992EBE5E}"/>
          </ac:spMkLst>
        </pc:spChg>
      </pc:sldChg>
      <pc:sldChg chg="addSp delSp modSp del mod">
        <pc:chgData name="Melissa Dowse" userId="cd79fe79b5a07752" providerId="LiveId" clId="{76B1586B-AD93-4D4E-9814-B76B5EB1F21A}" dt="2020-06-07T20:23:47.504" v="107" actId="47"/>
        <pc:sldMkLst>
          <pc:docMk/>
          <pc:sldMk cId="849863012" sldId="324"/>
        </pc:sldMkLst>
        <pc:spChg chg="mod">
          <ac:chgData name="Melissa Dowse" userId="cd79fe79b5a07752" providerId="LiveId" clId="{76B1586B-AD93-4D4E-9814-B76B5EB1F21A}" dt="2020-06-07T20:20:42.171" v="51" actId="20577"/>
          <ac:spMkLst>
            <pc:docMk/>
            <pc:sldMk cId="849863012" sldId="324"/>
            <ac:spMk id="3" creationId="{62C851EA-F782-D04D-8511-4F00992EBE5E}"/>
          </ac:spMkLst>
        </pc:spChg>
        <pc:spChg chg="add mod">
          <ac:chgData name="Melissa Dowse" userId="cd79fe79b5a07752" providerId="LiveId" clId="{76B1586B-AD93-4D4E-9814-B76B5EB1F21A}" dt="2020-06-07T20:23:41.229" v="106" actId="20577"/>
          <ac:spMkLst>
            <pc:docMk/>
            <pc:sldMk cId="849863012" sldId="324"/>
            <ac:spMk id="6" creationId="{C383CB4F-88CC-4502-9B0E-A5399E9F99AE}"/>
          </ac:spMkLst>
        </pc:spChg>
        <pc:picChg chg="add del">
          <ac:chgData name="Melissa Dowse" userId="cd79fe79b5a07752" providerId="LiveId" clId="{76B1586B-AD93-4D4E-9814-B76B5EB1F21A}" dt="2020-06-07T20:20:47.756" v="53"/>
          <ac:picMkLst>
            <pc:docMk/>
            <pc:sldMk cId="849863012" sldId="324"/>
            <ac:picMk id="5" creationId="{A7CA2487-60D0-4520-B7F3-B0ABE6F1565D}"/>
          </ac:picMkLst>
        </pc:picChg>
      </pc:sldChg>
      <pc:sldChg chg="modSp mod modAnim">
        <pc:chgData name="Melissa Dowse" userId="cd79fe79b5a07752" providerId="LiveId" clId="{76B1586B-AD93-4D4E-9814-B76B5EB1F21A}" dt="2020-06-07T21:01:47.832" v="775" actId="113"/>
        <pc:sldMkLst>
          <pc:docMk/>
          <pc:sldMk cId="3476271157" sldId="325"/>
        </pc:sldMkLst>
        <pc:spChg chg="mod">
          <ac:chgData name="Melissa Dowse" userId="cd79fe79b5a07752" providerId="LiveId" clId="{76B1586B-AD93-4D4E-9814-B76B5EB1F21A}" dt="2020-06-07T20:42:12.092" v="698" actId="2711"/>
          <ac:spMkLst>
            <pc:docMk/>
            <pc:sldMk cId="3476271157" sldId="325"/>
            <ac:spMk id="2" creationId="{55E9E476-8442-5543-A8E7-F0C858FFE8A0}"/>
          </ac:spMkLst>
        </pc:spChg>
        <pc:spChg chg="mod">
          <ac:chgData name="Melissa Dowse" userId="cd79fe79b5a07752" providerId="LiveId" clId="{76B1586B-AD93-4D4E-9814-B76B5EB1F21A}" dt="2020-06-07T21:01:47.832" v="775" actId="113"/>
          <ac:spMkLst>
            <pc:docMk/>
            <pc:sldMk cId="3476271157" sldId="325"/>
            <ac:spMk id="3" creationId="{62C851EA-F782-D04D-8511-4F00992EBE5E}"/>
          </ac:spMkLst>
        </pc:spChg>
      </pc:sldChg>
      <pc:sldChg chg="modSp mod">
        <pc:chgData name="Melissa Dowse" userId="cd79fe79b5a07752" providerId="LiveId" clId="{76B1586B-AD93-4D4E-9814-B76B5EB1F21A}" dt="2020-06-07T21:16:40.147" v="1004" actId="20577"/>
        <pc:sldMkLst>
          <pc:docMk/>
          <pc:sldMk cId="1328607341" sldId="326"/>
        </pc:sldMkLst>
        <pc:spChg chg="mod">
          <ac:chgData name="Melissa Dowse" userId="cd79fe79b5a07752" providerId="LiveId" clId="{76B1586B-AD93-4D4E-9814-B76B5EB1F21A}" dt="2020-06-07T21:06:29.905" v="812" actId="114"/>
          <ac:spMkLst>
            <pc:docMk/>
            <pc:sldMk cId="1328607341" sldId="326"/>
            <ac:spMk id="2" creationId="{55E9E476-8442-5543-A8E7-F0C858FFE8A0}"/>
          </ac:spMkLst>
        </pc:spChg>
        <pc:spChg chg="mod">
          <ac:chgData name="Melissa Dowse" userId="cd79fe79b5a07752" providerId="LiveId" clId="{76B1586B-AD93-4D4E-9814-B76B5EB1F21A}" dt="2020-06-07T21:16:40.147" v="1004" actId="20577"/>
          <ac:spMkLst>
            <pc:docMk/>
            <pc:sldMk cId="1328607341" sldId="326"/>
            <ac:spMk id="3" creationId="{62C851EA-F782-D04D-8511-4F00992EBE5E}"/>
          </ac:spMkLst>
        </pc:spChg>
      </pc:sldChg>
      <pc:sldChg chg="modSp del mod">
        <pc:chgData name="Melissa Dowse" userId="cd79fe79b5a07752" providerId="LiveId" clId="{76B1586B-AD93-4D4E-9814-B76B5EB1F21A}" dt="2020-06-07T21:22:53.343" v="1033" actId="47"/>
        <pc:sldMkLst>
          <pc:docMk/>
          <pc:sldMk cId="971265524" sldId="328"/>
        </pc:sldMkLst>
        <pc:spChg chg="mod">
          <ac:chgData name="Melissa Dowse" userId="cd79fe79b5a07752" providerId="LiveId" clId="{76B1586B-AD93-4D4E-9814-B76B5EB1F21A}" dt="2020-06-07T21:22:48.543" v="1032" actId="20577"/>
          <ac:spMkLst>
            <pc:docMk/>
            <pc:sldMk cId="971265524" sldId="328"/>
            <ac:spMk id="3" creationId="{73D3D8B1-B5E1-F84C-AECE-9881E755283D}"/>
          </ac:spMkLst>
        </pc:spChg>
      </pc:sldChg>
      <pc:sldChg chg="del">
        <pc:chgData name="Melissa Dowse" userId="cd79fe79b5a07752" providerId="LiveId" clId="{76B1586B-AD93-4D4E-9814-B76B5EB1F21A}" dt="2020-06-07T21:40:51.209" v="1162" actId="47"/>
        <pc:sldMkLst>
          <pc:docMk/>
          <pc:sldMk cId="1150616204" sldId="3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DFD29B-153C-44EF-8C2D-7682A80032C2}" type="datetimeFigureOut">
              <a:rPr lang="de-DE" smtClean="0"/>
              <a:t>09.06.2026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A3C15-81C5-4C28-8520-BC0EB0943D89}" type="slidenum">
              <a:rPr lang="de-DE" smtClean="0"/>
              <a:t>‹Nr.›</a:t>
            </a:fld>
            <a:endParaRPr lang="de-DE"/>
          </a:p>
        </p:txBody>
      </p:sp>
    </p:spTree>
    <p:extLst>
      <p:ext uri="{BB962C8B-B14F-4D97-AF65-F5344CB8AC3E}">
        <p14:creationId xmlns:p14="http://schemas.microsoft.com/office/powerpoint/2010/main" val="3432883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2</a:t>
            </a:fld>
            <a:endParaRPr lang="de-DE"/>
          </a:p>
        </p:txBody>
      </p:sp>
    </p:spTree>
    <p:extLst>
      <p:ext uri="{BB962C8B-B14F-4D97-AF65-F5344CB8AC3E}">
        <p14:creationId xmlns:p14="http://schemas.microsoft.com/office/powerpoint/2010/main" val="938571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3</a:t>
            </a:fld>
            <a:endParaRPr lang="de-DE"/>
          </a:p>
        </p:txBody>
      </p:sp>
    </p:spTree>
    <p:extLst>
      <p:ext uri="{BB962C8B-B14F-4D97-AF65-F5344CB8AC3E}">
        <p14:creationId xmlns:p14="http://schemas.microsoft.com/office/powerpoint/2010/main" val="1125793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4</a:t>
            </a:fld>
            <a:endParaRPr lang="de-DE"/>
          </a:p>
        </p:txBody>
      </p:sp>
    </p:spTree>
    <p:extLst>
      <p:ext uri="{BB962C8B-B14F-4D97-AF65-F5344CB8AC3E}">
        <p14:creationId xmlns:p14="http://schemas.microsoft.com/office/powerpoint/2010/main" val="4086989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5</a:t>
            </a:fld>
            <a:endParaRPr lang="de-DE"/>
          </a:p>
        </p:txBody>
      </p:sp>
    </p:spTree>
    <p:extLst>
      <p:ext uri="{BB962C8B-B14F-4D97-AF65-F5344CB8AC3E}">
        <p14:creationId xmlns:p14="http://schemas.microsoft.com/office/powerpoint/2010/main" val="1566615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6</a:t>
            </a:fld>
            <a:endParaRPr lang="de-DE"/>
          </a:p>
        </p:txBody>
      </p:sp>
    </p:spTree>
    <p:extLst>
      <p:ext uri="{BB962C8B-B14F-4D97-AF65-F5344CB8AC3E}">
        <p14:creationId xmlns:p14="http://schemas.microsoft.com/office/powerpoint/2010/main" val="2266268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7</a:t>
            </a:fld>
            <a:endParaRPr lang="de-DE"/>
          </a:p>
        </p:txBody>
      </p:sp>
    </p:spTree>
    <p:extLst>
      <p:ext uri="{BB962C8B-B14F-4D97-AF65-F5344CB8AC3E}">
        <p14:creationId xmlns:p14="http://schemas.microsoft.com/office/powerpoint/2010/main" val="3347789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8</a:t>
            </a:fld>
            <a:endParaRPr lang="de-DE"/>
          </a:p>
        </p:txBody>
      </p:sp>
    </p:spTree>
    <p:extLst>
      <p:ext uri="{BB962C8B-B14F-4D97-AF65-F5344CB8AC3E}">
        <p14:creationId xmlns:p14="http://schemas.microsoft.com/office/powerpoint/2010/main" val="757016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9</a:t>
            </a:fld>
            <a:endParaRPr lang="de-DE"/>
          </a:p>
        </p:txBody>
      </p:sp>
    </p:spTree>
    <p:extLst>
      <p:ext uri="{BB962C8B-B14F-4D97-AF65-F5344CB8AC3E}">
        <p14:creationId xmlns:p14="http://schemas.microsoft.com/office/powerpoint/2010/main" val="1116674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10</a:t>
            </a:fld>
            <a:endParaRPr lang="de-DE"/>
          </a:p>
        </p:txBody>
      </p:sp>
    </p:spTree>
    <p:extLst>
      <p:ext uri="{BB962C8B-B14F-4D97-AF65-F5344CB8AC3E}">
        <p14:creationId xmlns:p14="http://schemas.microsoft.com/office/powerpoint/2010/main" val="1593890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75592FB9-FA85-44BB-9E89-52ACB8B6C54B}" type="slidenum">
              <a:rPr lang="de-DE" smtClean="0"/>
              <a:t>11</a:t>
            </a:fld>
            <a:endParaRPr lang="de-DE"/>
          </a:p>
        </p:txBody>
      </p:sp>
    </p:spTree>
    <p:extLst>
      <p:ext uri="{BB962C8B-B14F-4D97-AF65-F5344CB8AC3E}">
        <p14:creationId xmlns:p14="http://schemas.microsoft.com/office/powerpoint/2010/main" val="41976374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grpSp>
        <p:nvGrpSpPr>
          <p:cNvPr id="6" name="Group 5"/>
          <p:cNvGrpSpPr/>
          <p:nvPr/>
        </p:nvGrpSpPr>
        <p:grpSpPr>
          <a:xfrm>
            <a:off x="-3021" y="-2022"/>
            <a:ext cx="12195021" cy="6861037"/>
            <a:chOff x="-2266" y="-2022"/>
            <a:chExt cx="9146266" cy="6861037"/>
          </a:xfrm>
        </p:grpSpPr>
        <p:sp>
          <p:nvSpPr>
            <p:cNvPr id="10" name="Rectangle 9"/>
            <p:cNvSpPr/>
            <p:nvPr/>
          </p:nvSpPr>
          <p:spPr>
            <a:xfrm>
              <a:off x="0" y="0"/>
              <a:ext cx="9144000" cy="6858000"/>
            </a:xfrm>
            <a:prstGeom prst="rect">
              <a:avLst/>
            </a:prstGeom>
            <a:blipFill>
              <a:blip r:embed="rId2" cstate="screen">
                <a:duotone>
                  <a:schemeClr val="dk2">
                    <a:shade val="69000"/>
                    <a:hueMod val="108000"/>
                    <a:satMod val="164000"/>
                    <a:lumMod val="74000"/>
                  </a:schemeClr>
                  <a:schemeClr val="dk2">
                    <a:tint val="96000"/>
                    <a:hueMod val="88000"/>
                    <a:satMod val="140000"/>
                    <a:lumMod val="132000"/>
                  </a:schemeClr>
                </a:duotone>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965825" y="1320447"/>
            <a:ext cx="7890236" cy="2554758"/>
          </a:xfrm>
          <a:prstGeom prst="rect">
            <a:avLst/>
          </a:prstGeom>
        </p:spPr>
        <p:txBody>
          <a:bodyPr anchor="b"/>
          <a:lstStyle>
            <a:lvl1pPr>
              <a:defRPr sz="4800">
                <a:solidFill>
                  <a:schemeClr val="bg2"/>
                </a:solidFill>
              </a:defRPr>
            </a:lvl1pPr>
          </a:lstStyle>
          <a:p>
            <a:r>
              <a:rPr lang="de-DE" dirty="0"/>
              <a:t>Mastertitelformat bearbeiten</a:t>
            </a:r>
            <a:endParaRPr lang="en-US" dirty="0"/>
          </a:p>
        </p:txBody>
      </p:sp>
      <p:sp>
        <p:nvSpPr>
          <p:cNvPr id="3" name="Subtitle 2"/>
          <p:cNvSpPr>
            <a:spLocks noGrp="1"/>
          </p:cNvSpPr>
          <p:nvPr>
            <p:ph type="subTitle" idx="1" hasCustomPrompt="1"/>
          </p:nvPr>
        </p:nvSpPr>
        <p:spPr bwMode="gray">
          <a:xfrm>
            <a:off x="1965825" y="3965670"/>
            <a:ext cx="7890236" cy="1520729"/>
          </a:xfrm>
        </p:spPr>
        <p:txBody>
          <a:bodyPr anchor="t"/>
          <a:lstStyle>
            <a:lvl1pPr marL="0" indent="0" algn="l">
              <a:buNone/>
              <a:defRPr cap="all">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err="1"/>
              <a:t>Professorship</a:t>
            </a:r>
            <a:r>
              <a:rPr lang="de-DE" dirty="0"/>
              <a:t> Corporate law </a:t>
            </a:r>
          </a:p>
          <a:p>
            <a:r>
              <a:rPr lang="de-DE" dirty="0"/>
              <a:t>Campus Heilbronn</a:t>
            </a:r>
            <a:endParaRPr lang="en-US" dirty="0"/>
          </a:p>
        </p:txBody>
      </p:sp>
      <p:sp>
        <p:nvSpPr>
          <p:cNvPr id="12" name="Rectangle 11"/>
          <p:cNvSpPr/>
          <p:nvPr/>
        </p:nvSpPr>
        <p:spPr>
          <a:xfrm>
            <a:off x="10327525" y="0"/>
            <a:ext cx="9144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9" name="Rectangle 28">
            <a:extLst>
              <a:ext uri="{FF2B5EF4-FFF2-40B4-BE49-F238E27FC236}">
                <a16:creationId xmlns:a16="http://schemas.microsoft.com/office/drawing/2014/main" id="{5A1D018C-6559-7A4B-981C-5E4108AB52F0}"/>
              </a:ext>
            </a:extLst>
          </p:cNvPr>
          <p:cNvSpPr/>
          <p:nvPr userDrawn="1"/>
        </p:nvSpPr>
        <p:spPr>
          <a:xfrm>
            <a:off x="10345363" y="-5129"/>
            <a:ext cx="9144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tIns="180000" bIns="108000"/>
          <a:lstStyle/>
          <a:p>
            <a:endParaRPr lang="de-DE" sz="1400" dirty="0"/>
          </a:p>
          <a:p>
            <a:endParaRPr lang="de-DE" sz="1400" dirty="0"/>
          </a:p>
          <a:p>
            <a:endParaRPr lang="de-DE" sz="1400" dirty="0"/>
          </a:p>
          <a:p>
            <a:fld id="{C05DBFD5-6ED5-CD44-A910-717F99551BD7}" type="slidenum">
              <a:rPr lang="de-DE" sz="1400" smtClean="0"/>
              <a:t>‹Nr.›</a:t>
            </a:fld>
            <a:endParaRPr lang="de-DE" sz="1400" dirty="0"/>
          </a:p>
        </p:txBody>
      </p:sp>
      <p:pic>
        <p:nvPicPr>
          <p:cNvPr id="13" name="Grafik 12">
            <a:extLst>
              <a:ext uri="{FF2B5EF4-FFF2-40B4-BE49-F238E27FC236}">
                <a16:creationId xmlns:a16="http://schemas.microsoft.com/office/drawing/2014/main" id="{3BAF2551-8A32-4B35-8E24-522441D9DA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51347" y="5865886"/>
            <a:ext cx="2383552" cy="861419"/>
          </a:xfrm>
          <a:prstGeom prst="rect">
            <a:avLst/>
          </a:prstGeom>
        </p:spPr>
      </p:pic>
      <p:sp>
        <p:nvSpPr>
          <p:cNvPr id="14" name="Rechteck 13">
            <a:extLst>
              <a:ext uri="{FF2B5EF4-FFF2-40B4-BE49-F238E27FC236}">
                <a16:creationId xmlns:a16="http://schemas.microsoft.com/office/drawing/2014/main" id="{BA0D7BA1-3295-4295-85E1-9B7F4238C48A}"/>
              </a:ext>
            </a:extLst>
          </p:cNvPr>
          <p:cNvSpPr/>
          <p:nvPr userDrawn="1"/>
        </p:nvSpPr>
        <p:spPr>
          <a:xfrm>
            <a:off x="2102990" y="5866393"/>
            <a:ext cx="7067136" cy="99160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pic>
        <p:nvPicPr>
          <p:cNvPr id="21" name="Grafik 20">
            <a:extLst>
              <a:ext uri="{FF2B5EF4-FFF2-40B4-BE49-F238E27FC236}">
                <a16:creationId xmlns:a16="http://schemas.microsoft.com/office/drawing/2014/main" id="{01D599AF-278D-40B8-B1E4-A8B2A99DEDD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57101" y="5866393"/>
            <a:ext cx="1445889" cy="991099"/>
          </a:xfrm>
          <a:prstGeom prst="rect">
            <a:avLst/>
          </a:prstGeom>
        </p:spPr>
      </p:pic>
    </p:spTree>
    <p:extLst>
      <p:ext uri="{BB962C8B-B14F-4D97-AF65-F5344CB8AC3E}">
        <p14:creationId xmlns:p14="http://schemas.microsoft.com/office/powerpoint/2010/main" val="27871897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a:xfrm>
            <a:off x="291012" y="177764"/>
            <a:ext cx="9789136" cy="821429"/>
          </a:xfrm>
          <a:prstGeom prst="rect">
            <a:avLst/>
          </a:prstGeom>
        </p:spPr>
        <p:txBody>
          <a:bodyPr tIns="144000"/>
          <a:lstStyle>
            <a:lvl1pPr>
              <a:defRPr>
                <a:latin typeface="Helvetica" panose="020B0604020202020204" pitchFamily="34" charset="0"/>
                <a:cs typeface="Helvetica" panose="020B0604020202020204" pitchFamily="34" charset="0"/>
              </a:defRPr>
            </a:lvl1pPr>
          </a:lstStyle>
          <a:p>
            <a:r>
              <a:rPr lang="de-DE" dirty="0"/>
              <a:t>Mastertitelformat bearbeiten</a:t>
            </a:r>
            <a:endParaRPr lang="en-US" dirty="0"/>
          </a:p>
        </p:txBody>
      </p:sp>
      <p:sp>
        <p:nvSpPr>
          <p:cNvPr id="3" name="Content Placeholder 2"/>
          <p:cNvSpPr>
            <a:spLocks noGrp="1"/>
          </p:cNvSpPr>
          <p:nvPr>
            <p:ph idx="1"/>
          </p:nvPr>
        </p:nvSpPr>
        <p:spPr>
          <a:xfrm>
            <a:off x="291013" y="1111815"/>
            <a:ext cx="11623196" cy="5261381"/>
          </a:xfrm>
        </p:spPr>
        <p:txBody>
          <a:bodyPr>
            <a:noAutofit/>
          </a:bodyPr>
          <a:lstStyle>
            <a:lvl1pPr marL="342900" indent="-342900">
              <a:buFont typeface="Wingdings" pitchFamily="2" charset="2"/>
              <a:buChar char="§"/>
              <a:defRPr sz="2800">
                <a:latin typeface="Georgia" panose="02040502050405020303" pitchFamily="18" charset="0"/>
              </a:defRPr>
            </a:lvl1pPr>
            <a:lvl2pPr marL="685800" indent="-283464">
              <a:buFont typeface="Arial" panose="020B0604020202020204" pitchFamily="34" charset="0"/>
              <a:buChar char="•"/>
              <a:defRPr sz="2400">
                <a:latin typeface="Georgia" panose="02040502050405020303" pitchFamily="18" charset="0"/>
              </a:defRPr>
            </a:lvl2pPr>
            <a:lvl3pPr marL="960120" indent="-228600">
              <a:buFont typeface="Symbol" pitchFamily="2" charset="2"/>
              <a:buChar char="-"/>
              <a:defRPr sz="2000">
                <a:latin typeface="Georgia" panose="02040502050405020303" pitchFamily="18" charset="0"/>
              </a:defRPr>
            </a:lvl3pPr>
            <a:lvl4pPr marL="1234440" indent="-228600">
              <a:buFont typeface="Wingdings 3" pitchFamily="2" charset="2"/>
              <a:buChar char=""/>
              <a:defRPr sz="1800">
                <a:latin typeface="Georgia" panose="02040502050405020303" pitchFamily="18" charset="0"/>
              </a:defRPr>
            </a:lvl4pPr>
            <a:lvl5pPr marL="1508760" indent="-228600">
              <a:buFont typeface="Wingdings" pitchFamily="2" charset="2"/>
              <a:buChar char="v"/>
              <a:defRPr sz="1800">
                <a:latin typeface="Georgia" panose="02040502050405020303" pitchFamily="18"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Footer Placeholder 4"/>
          <p:cNvSpPr>
            <a:spLocks noGrp="1"/>
          </p:cNvSpPr>
          <p:nvPr>
            <p:ph type="ftr" sz="quarter" idx="11"/>
          </p:nvPr>
        </p:nvSpPr>
        <p:spPr>
          <a:xfrm>
            <a:off x="787790" y="6535246"/>
            <a:ext cx="5146393" cy="228659"/>
          </a:xfrm>
          <a:prstGeom prst="rect">
            <a:avLst/>
          </a:prstGeom>
        </p:spPr>
        <p:txBody>
          <a:bodyPr/>
          <a:lstStyle>
            <a:lvl1pPr>
              <a:defRPr sz="1200">
                <a:latin typeface="Helvetica" panose="020B0604020202020204" pitchFamily="34" charset="0"/>
                <a:cs typeface="Helvetica" panose="020B0604020202020204" pitchFamily="34" charset="0"/>
              </a:defRPr>
            </a:lvl1pPr>
          </a:lstStyle>
          <a:p>
            <a:r>
              <a:rPr lang="en-US"/>
              <a:t>Magdalene Back | TUM School of Management</a:t>
            </a:r>
            <a:endParaRPr lang="en-US" dirty="0"/>
          </a:p>
        </p:txBody>
      </p:sp>
    </p:spTree>
    <p:extLst>
      <p:ext uri="{BB962C8B-B14F-4D97-AF65-F5344CB8AC3E}">
        <p14:creationId xmlns:p14="http://schemas.microsoft.com/office/powerpoint/2010/main" val="2694067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spTree>
      <p:nvGrpSpPr>
        <p:cNvPr id="1" name=""/>
        <p:cNvGrpSpPr/>
        <p:nvPr/>
      </p:nvGrpSpPr>
      <p:grpSpPr>
        <a:xfrm>
          <a:off x="0" y="0"/>
          <a:ext cx="0" cy="0"/>
          <a:chOff x="0" y="0"/>
          <a:chExt cx="0" cy="0"/>
        </a:xfrm>
      </p:grpSpPr>
      <p:grpSp>
        <p:nvGrpSpPr>
          <p:cNvPr id="6" name="Group 5"/>
          <p:cNvGrpSpPr/>
          <p:nvPr/>
        </p:nvGrpSpPr>
        <p:grpSpPr>
          <a:xfrm>
            <a:off x="-3021" y="-2022"/>
            <a:ext cx="12195021" cy="6861037"/>
            <a:chOff x="-2266" y="-2022"/>
            <a:chExt cx="9146266" cy="6861037"/>
          </a:xfrm>
        </p:grpSpPr>
        <p:sp>
          <p:nvSpPr>
            <p:cNvPr id="12" name="Rectangle 11"/>
            <p:cNvSpPr/>
            <p:nvPr/>
          </p:nvSpPr>
          <p:spPr>
            <a:xfrm>
              <a:off x="0" y="0"/>
              <a:ext cx="9144000" cy="6858000"/>
            </a:xfrm>
            <a:prstGeom prst="rect">
              <a:avLst/>
            </a:prstGeom>
            <a:blipFill>
              <a:blip r:embed="rId2" cstate="screen">
                <a:duotone>
                  <a:schemeClr val="dk2">
                    <a:shade val="69000"/>
                    <a:hueMod val="108000"/>
                    <a:satMod val="164000"/>
                    <a:lumMod val="74000"/>
                  </a:schemeClr>
                  <a:schemeClr val="dk2">
                    <a:tint val="96000"/>
                    <a:hueMod val="88000"/>
                    <a:satMod val="140000"/>
                    <a:lumMod val="132000"/>
                  </a:schemeClr>
                </a:duotone>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de-DE" sz="1800" dirty="0"/>
            </a:p>
          </p:txBody>
        </p:sp>
      </p:grpSp>
      <p:sp>
        <p:nvSpPr>
          <p:cNvPr id="2" name="Title 1"/>
          <p:cNvSpPr>
            <a:spLocks noGrp="1"/>
          </p:cNvSpPr>
          <p:nvPr>
            <p:ph type="title" hasCustomPrompt="1"/>
          </p:nvPr>
        </p:nvSpPr>
        <p:spPr>
          <a:xfrm>
            <a:off x="1155258" y="2257589"/>
            <a:ext cx="4135684" cy="3020343"/>
          </a:xfrm>
          <a:prstGeom prst="rect">
            <a:avLst/>
          </a:prstGeom>
        </p:spPr>
        <p:txBody>
          <a:bodyPr anchor="ctr"/>
          <a:lstStyle>
            <a:lvl1pPr algn="l">
              <a:defRPr sz="3200" b="0" cap="none">
                <a:latin typeface="Helvetica" panose="020B0604020202020204" pitchFamily="34" charset="0"/>
                <a:cs typeface="Helvetica" panose="020B0604020202020204" pitchFamily="34" charset="0"/>
              </a:defRPr>
            </a:lvl1pPr>
          </a:lstStyle>
          <a:p>
            <a:r>
              <a:rPr lang="en-US" dirty="0"/>
              <a:t>Click to edit Master title style</a:t>
            </a:r>
            <a:br>
              <a:rPr lang="en-US" dirty="0"/>
            </a:br>
            <a:r>
              <a:rPr lang="en-US" dirty="0"/>
              <a:t>third</a:t>
            </a:r>
          </a:p>
        </p:txBody>
      </p:sp>
      <p:sp>
        <p:nvSpPr>
          <p:cNvPr id="3" name="Text Placeholder 2"/>
          <p:cNvSpPr>
            <a:spLocks noGrp="1"/>
          </p:cNvSpPr>
          <p:nvPr>
            <p:ph type="body" idx="1"/>
          </p:nvPr>
        </p:nvSpPr>
        <p:spPr>
          <a:xfrm>
            <a:off x="6825682" y="2257267"/>
            <a:ext cx="4072871" cy="3020345"/>
          </a:xfrm>
        </p:spPr>
        <p:txBody>
          <a:bodyPr anchor="ctr"/>
          <a:lstStyle>
            <a:lvl1pPr marL="0" indent="0" algn="l">
              <a:buNone/>
              <a:defRPr sz="2000" cap="all">
                <a:solidFill>
                  <a:schemeClr val="accent1"/>
                </a:solidFill>
                <a:latin typeface="Georgia" panose="02040502050405020303" pitchFamily="18"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dirty="0"/>
              <a:t>Mastertextformat bearbeiten</a:t>
            </a:r>
          </a:p>
        </p:txBody>
      </p:sp>
      <p:sp>
        <p:nvSpPr>
          <p:cNvPr id="22" name="Footer Placeholder 4">
            <a:extLst>
              <a:ext uri="{FF2B5EF4-FFF2-40B4-BE49-F238E27FC236}">
                <a16:creationId xmlns:a16="http://schemas.microsoft.com/office/drawing/2014/main" id="{F5373874-527E-BE4E-95BD-F93EE2DD52DA}"/>
              </a:ext>
            </a:extLst>
          </p:cNvPr>
          <p:cNvSpPr>
            <a:spLocks noGrp="1"/>
          </p:cNvSpPr>
          <p:nvPr>
            <p:ph type="ftr" sz="quarter" idx="11"/>
          </p:nvPr>
        </p:nvSpPr>
        <p:spPr>
          <a:xfrm>
            <a:off x="787790" y="6535246"/>
            <a:ext cx="5146393" cy="228659"/>
          </a:xfrm>
          <a:prstGeom prst="rect">
            <a:avLst/>
          </a:prstGeom>
        </p:spPr>
        <p:txBody>
          <a:bodyPr/>
          <a:lstStyle>
            <a:lvl1pPr>
              <a:defRPr sz="1200">
                <a:latin typeface="Helvetica" panose="020B0604020202020204" pitchFamily="34" charset="0"/>
                <a:cs typeface="Helvetica" panose="020B0604020202020204" pitchFamily="34" charset="0"/>
              </a:defRPr>
            </a:lvl1pPr>
          </a:lstStyle>
          <a:p>
            <a:r>
              <a:rPr lang="en-US"/>
              <a:t>Magdalene Back | TUM School of Management</a:t>
            </a:r>
            <a:endParaRPr lang="en-US" dirty="0"/>
          </a:p>
        </p:txBody>
      </p:sp>
      <p:sp>
        <p:nvSpPr>
          <p:cNvPr id="23" name="Rectangle 28">
            <a:extLst>
              <a:ext uri="{FF2B5EF4-FFF2-40B4-BE49-F238E27FC236}">
                <a16:creationId xmlns:a16="http://schemas.microsoft.com/office/drawing/2014/main" id="{AD1F08AB-1382-E943-B03E-886E50D387BF}"/>
              </a:ext>
            </a:extLst>
          </p:cNvPr>
          <p:cNvSpPr/>
          <p:nvPr userDrawn="1"/>
        </p:nvSpPr>
        <p:spPr>
          <a:xfrm>
            <a:off x="10327525" y="0"/>
            <a:ext cx="9144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tIns="180000" bIns="108000"/>
          <a:lstStyle/>
          <a:p>
            <a:endParaRPr lang="de-DE" sz="1400" dirty="0"/>
          </a:p>
          <a:p>
            <a:endParaRPr lang="de-DE" sz="1400" dirty="0"/>
          </a:p>
          <a:p>
            <a:endParaRPr lang="de-DE" sz="1400" dirty="0"/>
          </a:p>
          <a:p>
            <a:fld id="{C05DBFD5-6ED5-CD44-A910-717F99551BD7}" type="slidenum">
              <a:rPr lang="de-DE" sz="1400" smtClean="0"/>
              <a:t>‹Nr.›</a:t>
            </a:fld>
            <a:endParaRPr lang="de-DE" sz="1400" dirty="0"/>
          </a:p>
        </p:txBody>
      </p:sp>
    </p:spTree>
    <p:extLst>
      <p:ext uri="{BB962C8B-B14F-4D97-AF65-F5344CB8AC3E}">
        <p14:creationId xmlns:p14="http://schemas.microsoft.com/office/powerpoint/2010/main" val="2617216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94518" y="1239133"/>
            <a:ext cx="4849305" cy="3530604"/>
          </a:xfrm>
        </p:spPr>
        <p:txBody>
          <a:bodyPr>
            <a:normAutofit/>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Content Placeholder 3"/>
          <p:cNvSpPr>
            <a:spLocks noGrp="1"/>
          </p:cNvSpPr>
          <p:nvPr>
            <p:ph sz="half" idx="2"/>
          </p:nvPr>
        </p:nvSpPr>
        <p:spPr>
          <a:xfrm>
            <a:off x="6326705" y="1239134"/>
            <a:ext cx="4849308" cy="3553245"/>
          </a:xfrm>
        </p:spPr>
        <p:txBody>
          <a:bodyPr>
            <a:normAutofit/>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ooter Placeholder 5"/>
          <p:cNvSpPr>
            <a:spLocks noGrp="1"/>
          </p:cNvSpPr>
          <p:nvPr>
            <p:ph type="ftr" sz="quarter" idx="11"/>
          </p:nvPr>
        </p:nvSpPr>
        <p:spPr>
          <a:xfrm>
            <a:off x="787790" y="6523671"/>
            <a:ext cx="5146393" cy="228659"/>
          </a:xfrm>
          <a:prstGeom prst="rect">
            <a:avLst/>
          </a:prstGeom>
        </p:spPr>
        <p:txBody>
          <a:bodyPr/>
          <a:lstStyle>
            <a:lvl1pPr>
              <a:defRPr sz="1200">
                <a:latin typeface="Helvetica" panose="020B0604020202020204" pitchFamily="34" charset="0"/>
                <a:cs typeface="Helvetica" panose="020B0604020202020204" pitchFamily="34" charset="0"/>
              </a:defRPr>
            </a:lvl1pPr>
          </a:lstStyle>
          <a:p>
            <a:r>
              <a:rPr lang="en-US"/>
              <a:t>Magdalene Back | TUM School of Management</a:t>
            </a:r>
            <a:endParaRPr lang="en-US" dirty="0"/>
          </a:p>
        </p:txBody>
      </p:sp>
      <p:sp>
        <p:nvSpPr>
          <p:cNvPr id="10" name="Title 1">
            <a:extLst>
              <a:ext uri="{FF2B5EF4-FFF2-40B4-BE49-F238E27FC236}">
                <a16:creationId xmlns:a16="http://schemas.microsoft.com/office/drawing/2014/main" id="{90BB7484-664C-C54C-98A2-0B216007D3C7}"/>
              </a:ext>
            </a:extLst>
          </p:cNvPr>
          <p:cNvSpPr>
            <a:spLocks noGrp="1"/>
          </p:cNvSpPr>
          <p:nvPr>
            <p:ph type="title"/>
          </p:nvPr>
        </p:nvSpPr>
        <p:spPr>
          <a:xfrm>
            <a:off x="291012" y="128336"/>
            <a:ext cx="9789136" cy="821429"/>
          </a:xfrm>
          <a:prstGeom prst="rect">
            <a:avLst/>
          </a:prstGeom>
        </p:spPr>
        <p:txBody>
          <a:bodyPr tIns="144000"/>
          <a:lstStyle>
            <a:lvl1pPr>
              <a:defRPr>
                <a:latin typeface="Helvetica" panose="020B0604020202020204" pitchFamily="34" charset="0"/>
                <a:cs typeface="Helvetica" panose="020B0604020202020204" pitchFamily="34" charset="0"/>
              </a:defRPr>
            </a:lvl1pPr>
          </a:lstStyle>
          <a:p>
            <a:r>
              <a:rPr lang="de-DE" dirty="0"/>
              <a:t>Mastertitelformat bearbeiten</a:t>
            </a:r>
            <a:endParaRPr lang="en-US" dirty="0"/>
          </a:p>
        </p:txBody>
      </p:sp>
    </p:spTree>
    <p:extLst>
      <p:ext uri="{BB962C8B-B14F-4D97-AF65-F5344CB8AC3E}">
        <p14:creationId xmlns:p14="http://schemas.microsoft.com/office/powerpoint/2010/main" val="1301189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94520" y="1347096"/>
            <a:ext cx="4849305" cy="759290"/>
          </a:xfrm>
        </p:spPr>
        <p:txBody>
          <a:bodyPr anchor="b">
            <a:noAutofit/>
          </a:bodyPr>
          <a:lstStyle>
            <a:lvl1pPr marL="0" indent="0">
              <a:buNone/>
              <a:defRPr sz="2400" b="0">
                <a:solidFill>
                  <a:schemeClr val="accent1"/>
                </a:solidFill>
                <a:latin typeface="Helvetica" panose="020B0604020202020204" pitchFamily="34" charset="0"/>
                <a:cs typeface="Helvetica"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4" name="Content Placeholder 3"/>
          <p:cNvSpPr>
            <a:spLocks noGrp="1"/>
          </p:cNvSpPr>
          <p:nvPr>
            <p:ph sz="half" idx="2"/>
          </p:nvPr>
        </p:nvSpPr>
        <p:spPr>
          <a:xfrm>
            <a:off x="1294520" y="2105937"/>
            <a:ext cx="4849304" cy="2771761"/>
          </a:xfrm>
        </p:spPr>
        <p:txBody>
          <a:bodyPr>
            <a:normAutofit/>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Text Placeholder 4"/>
          <p:cNvSpPr>
            <a:spLocks noGrp="1"/>
          </p:cNvSpPr>
          <p:nvPr>
            <p:ph type="body" sz="quarter" idx="3"/>
          </p:nvPr>
        </p:nvSpPr>
        <p:spPr>
          <a:xfrm>
            <a:off x="6326705" y="1346646"/>
            <a:ext cx="4849307" cy="759290"/>
          </a:xfrm>
        </p:spPr>
        <p:txBody>
          <a:bodyPr anchor="b">
            <a:noAutofit/>
          </a:bodyPr>
          <a:lstStyle>
            <a:lvl1pPr marL="0" indent="0">
              <a:buNone/>
              <a:defRPr sz="2400" b="0">
                <a:solidFill>
                  <a:schemeClr val="accent1"/>
                </a:solidFill>
                <a:latin typeface="Helvetica" panose="020B0604020202020204" pitchFamily="34" charset="0"/>
                <a:cs typeface="Helvetica"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6" name="Content Placeholder 5"/>
          <p:cNvSpPr>
            <a:spLocks noGrp="1"/>
          </p:cNvSpPr>
          <p:nvPr>
            <p:ph sz="quarter" idx="4"/>
          </p:nvPr>
        </p:nvSpPr>
        <p:spPr>
          <a:xfrm>
            <a:off x="6326707" y="2105936"/>
            <a:ext cx="4849307" cy="2773909"/>
          </a:xfrm>
        </p:spPr>
        <p:txBody>
          <a:bodyPr>
            <a:normAutofit/>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1" name="Footer Placeholder 4">
            <a:extLst>
              <a:ext uri="{FF2B5EF4-FFF2-40B4-BE49-F238E27FC236}">
                <a16:creationId xmlns:a16="http://schemas.microsoft.com/office/drawing/2014/main" id="{13A965C7-8886-F548-9036-28A04D519301}"/>
              </a:ext>
            </a:extLst>
          </p:cNvPr>
          <p:cNvSpPr>
            <a:spLocks noGrp="1"/>
          </p:cNvSpPr>
          <p:nvPr>
            <p:ph type="ftr" sz="quarter" idx="11"/>
          </p:nvPr>
        </p:nvSpPr>
        <p:spPr>
          <a:xfrm>
            <a:off x="787790" y="6535246"/>
            <a:ext cx="5146393" cy="228659"/>
          </a:xfrm>
          <a:prstGeom prst="rect">
            <a:avLst/>
          </a:prstGeom>
        </p:spPr>
        <p:txBody>
          <a:bodyPr/>
          <a:lstStyle>
            <a:lvl1pPr>
              <a:defRPr sz="1200">
                <a:latin typeface="Helvetica" panose="020B0604020202020204" pitchFamily="34" charset="0"/>
                <a:cs typeface="Helvetica" panose="020B0604020202020204" pitchFamily="34" charset="0"/>
              </a:defRPr>
            </a:lvl1pPr>
          </a:lstStyle>
          <a:p>
            <a:r>
              <a:rPr lang="en-US"/>
              <a:t>Magdalene Back | TUM School of Management</a:t>
            </a:r>
            <a:endParaRPr lang="en-US" dirty="0"/>
          </a:p>
        </p:txBody>
      </p:sp>
      <p:sp>
        <p:nvSpPr>
          <p:cNvPr id="15" name="Title 1">
            <a:extLst>
              <a:ext uri="{FF2B5EF4-FFF2-40B4-BE49-F238E27FC236}">
                <a16:creationId xmlns:a16="http://schemas.microsoft.com/office/drawing/2014/main" id="{14F496D3-A0E8-3A41-B1C0-69D3678AEFAE}"/>
              </a:ext>
            </a:extLst>
          </p:cNvPr>
          <p:cNvSpPr>
            <a:spLocks noGrp="1"/>
          </p:cNvSpPr>
          <p:nvPr>
            <p:ph type="title"/>
          </p:nvPr>
        </p:nvSpPr>
        <p:spPr>
          <a:xfrm>
            <a:off x="291012" y="128336"/>
            <a:ext cx="9789136" cy="821429"/>
          </a:xfrm>
          <a:prstGeom prst="rect">
            <a:avLst/>
          </a:prstGeom>
        </p:spPr>
        <p:txBody>
          <a:bodyPr tIns="144000"/>
          <a:lstStyle>
            <a:lvl1pPr>
              <a:defRPr>
                <a:latin typeface="Helvetica" panose="020B0604020202020204" pitchFamily="34" charset="0"/>
                <a:cs typeface="Helvetica" panose="020B0604020202020204" pitchFamily="34" charset="0"/>
              </a:defRPr>
            </a:lvl1pPr>
          </a:lstStyle>
          <a:p>
            <a:r>
              <a:rPr lang="de-DE" dirty="0"/>
              <a:t>Mastertitelformat bearbeiten</a:t>
            </a:r>
            <a:endParaRPr lang="en-US" dirty="0"/>
          </a:p>
        </p:txBody>
      </p:sp>
    </p:spTree>
    <p:extLst>
      <p:ext uri="{BB962C8B-B14F-4D97-AF65-F5344CB8AC3E}">
        <p14:creationId xmlns:p14="http://schemas.microsoft.com/office/powerpoint/2010/main" val="3610049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938AA2BE-08C8-A041-995F-B910FD055EE0}"/>
              </a:ext>
            </a:extLst>
          </p:cNvPr>
          <p:cNvSpPr>
            <a:spLocks noGrp="1"/>
          </p:cNvSpPr>
          <p:nvPr>
            <p:ph type="dt" sz="half" idx="10"/>
          </p:nvPr>
        </p:nvSpPr>
        <p:spPr>
          <a:xfrm>
            <a:off x="10080149" y="6539148"/>
            <a:ext cx="1320799" cy="228659"/>
          </a:xfrm>
          <a:prstGeom prst="rect">
            <a:avLst/>
          </a:prstGeom>
        </p:spPr>
        <p:txBody>
          <a:bodyPr/>
          <a:lstStyle>
            <a:lvl1pPr>
              <a:defRPr/>
            </a:lvl1pPr>
          </a:lstStyle>
          <a:p>
            <a:endParaRPr lang="en-US" dirty="0"/>
          </a:p>
        </p:txBody>
      </p:sp>
      <p:sp>
        <p:nvSpPr>
          <p:cNvPr id="9" name="Footer Placeholder 4">
            <a:extLst>
              <a:ext uri="{FF2B5EF4-FFF2-40B4-BE49-F238E27FC236}">
                <a16:creationId xmlns:a16="http://schemas.microsoft.com/office/drawing/2014/main" id="{D5198225-1F93-A643-A355-F4E104807494}"/>
              </a:ext>
            </a:extLst>
          </p:cNvPr>
          <p:cNvSpPr>
            <a:spLocks noGrp="1"/>
          </p:cNvSpPr>
          <p:nvPr>
            <p:ph type="ftr" sz="quarter" idx="11"/>
          </p:nvPr>
        </p:nvSpPr>
        <p:spPr>
          <a:xfrm>
            <a:off x="787790" y="6535246"/>
            <a:ext cx="5146393" cy="228659"/>
          </a:xfrm>
          <a:prstGeom prst="rect">
            <a:avLst/>
          </a:prstGeom>
        </p:spPr>
        <p:txBody>
          <a:bodyPr/>
          <a:lstStyle>
            <a:lvl1pPr>
              <a:defRPr sz="1200"/>
            </a:lvl1pPr>
          </a:lstStyle>
          <a:p>
            <a:r>
              <a:rPr lang="en-US"/>
              <a:t>Magdalene Back | TUM School of Management</a:t>
            </a:r>
            <a:endParaRPr lang="en-US" dirty="0"/>
          </a:p>
        </p:txBody>
      </p:sp>
      <p:sp>
        <p:nvSpPr>
          <p:cNvPr id="10" name="Rectangle 28">
            <a:extLst>
              <a:ext uri="{FF2B5EF4-FFF2-40B4-BE49-F238E27FC236}">
                <a16:creationId xmlns:a16="http://schemas.microsoft.com/office/drawing/2014/main" id="{B14BCD6E-2724-FC4F-86CB-312638C465FB}"/>
              </a:ext>
            </a:extLst>
          </p:cNvPr>
          <p:cNvSpPr/>
          <p:nvPr userDrawn="1"/>
        </p:nvSpPr>
        <p:spPr>
          <a:xfrm>
            <a:off x="10327525" y="0"/>
            <a:ext cx="9144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tIns="180000" bIns="108000"/>
          <a:lstStyle/>
          <a:p>
            <a:endParaRPr lang="de-DE" sz="1400" dirty="0"/>
          </a:p>
          <a:p>
            <a:endParaRPr lang="de-DE" sz="1400" dirty="0"/>
          </a:p>
          <a:p>
            <a:endParaRPr lang="de-DE" sz="1400" dirty="0"/>
          </a:p>
          <a:p>
            <a:fld id="{C05DBFD5-6ED5-CD44-A910-717F99551BD7}" type="slidenum">
              <a:rPr lang="de-DE" sz="1400" smtClean="0"/>
              <a:t>‹Nr.›</a:t>
            </a:fld>
            <a:endParaRPr lang="de-DE" sz="1400" dirty="0"/>
          </a:p>
        </p:txBody>
      </p:sp>
      <p:sp>
        <p:nvSpPr>
          <p:cNvPr id="12" name="Title 1">
            <a:extLst>
              <a:ext uri="{FF2B5EF4-FFF2-40B4-BE49-F238E27FC236}">
                <a16:creationId xmlns:a16="http://schemas.microsoft.com/office/drawing/2014/main" id="{25C9AA84-911C-A64C-9D05-BA17B6CB6045}"/>
              </a:ext>
            </a:extLst>
          </p:cNvPr>
          <p:cNvSpPr>
            <a:spLocks noGrp="1"/>
          </p:cNvSpPr>
          <p:nvPr>
            <p:ph type="title"/>
          </p:nvPr>
        </p:nvSpPr>
        <p:spPr>
          <a:xfrm>
            <a:off x="291012" y="128336"/>
            <a:ext cx="9789136" cy="821429"/>
          </a:xfrm>
          <a:prstGeom prst="rect">
            <a:avLst/>
          </a:prstGeom>
        </p:spPr>
        <p:txBody>
          <a:bodyPr tIns="144000"/>
          <a:lstStyle>
            <a:lvl1pPr>
              <a:defRPr>
                <a:solidFill>
                  <a:schemeClr val="tx1"/>
                </a:solidFill>
                <a:latin typeface="Helvetica" panose="020B0604020202020204" pitchFamily="34" charset="0"/>
                <a:cs typeface="Helvetica" panose="020B0604020202020204" pitchFamily="34" charset="0"/>
              </a:defRPr>
            </a:lvl1pPr>
          </a:lstStyle>
          <a:p>
            <a:r>
              <a:rPr lang="de-DE" dirty="0"/>
              <a:t>Mastertitelformat bearbeiten</a:t>
            </a:r>
            <a:endParaRPr lang="en-US" dirty="0"/>
          </a:p>
        </p:txBody>
      </p:sp>
    </p:spTree>
    <p:extLst>
      <p:ext uri="{BB962C8B-B14F-4D97-AF65-F5344CB8AC3E}">
        <p14:creationId xmlns:p14="http://schemas.microsoft.com/office/powerpoint/2010/main" val="2923479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425451" y="1978721"/>
            <a:ext cx="11345332"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11130180" y="6408271"/>
            <a:ext cx="766981"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‹Nr.›</a:t>
            </a:fld>
            <a:endParaRPr lang="de-DE" dirty="0"/>
          </a:p>
        </p:txBody>
      </p:sp>
      <p:sp>
        <p:nvSpPr>
          <p:cNvPr id="7" name="Fußzeilenplatzhalter 6"/>
          <p:cNvSpPr>
            <a:spLocks noGrp="1"/>
          </p:cNvSpPr>
          <p:nvPr>
            <p:ph type="ftr" sz="quarter" idx="13"/>
          </p:nvPr>
        </p:nvSpPr>
        <p:spPr/>
        <p:txBody>
          <a:bodyPr/>
          <a:lstStyle/>
          <a:p>
            <a:r>
              <a:rPr lang="en-US"/>
              <a:t>Magdalene Back | TUM School of Management</a:t>
            </a:r>
            <a:endParaRPr lang="en-US" dirty="0"/>
          </a:p>
        </p:txBody>
      </p:sp>
      <p:sp>
        <p:nvSpPr>
          <p:cNvPr id="8" name="Titel 1"/>
          <p:cNvSpPr>
            <a:spLocks noGrp="1"/>
          </p:cNvSpPr>
          <p:nvPr>
            <p:ph type="title" hasCustomPrompt="1"/>
          </p:nvPr>
        </p:nvSpPr>
        <p:spPr>
          <a:xfrm>
            <a:off x="425454" y="994335"/>
            <a:ext cx="11345332"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582014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219ACAA3-6D14-0D4A-84A4-ED9663C79189}"/>
              </a:ext>
            </a:extLst>
          </p:cNvPr>
          <p:cNvPicPr>
            <a:picLocks noChangeAspect="1"/>
          </p:cNvPicPr>
          <p:nvPr userDrawn="1"/>
        </p:nvPicPr>
        <p:blipFill>
          <a:blip r:embed="rId9"/>
          <a:stretch>
            <a:fillRect/>
          </a:stretch>
        </p:blipFill>
        <p:spPr>
          <a:xfrm>
            <a:off x="269654" y="176747"/>
            <a:ext cx="11652692" cy="812138"/>
          </a:xfrm>
          <a:prstGeom prst="rect">
            <a:avLst/>
          </a:prstGeom>
        </p:spPr>
      </p:pic>
      <p:sp>
        <p:nvSpPr>
          <p:cNvPr id="3" name="Text Placeholder 2"/>
          <p:cNvSpPr>
            <a:spLocks noGrp="1"/>
          </p:cNvSpPr>
          <p:nvPr>
            <p:ph type="body" idx="1"/>
          </p:nvPr>
        </p:nvSpPr>
        <p:spPr>
          <a:xfrm>
            <a:off x="269653" y="1250711"/>
            <a:ext cx="11652691" cy="5037487"/>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5" name="Footer Placeholder 4"/>
          <p:cNvSpPr>
            <a:spLocks noGrp="1"/>
          </p:cNvSpPr>
          <p:nvPr>
            <p:ph type="ftr" sz="quarter" idx="3"/>
          </p:nvPr>
        </p:nvSpPr>
        <p:spPr>
          <a:xfrm>
            <a:off x="787790" y="6558391"/>
            <a:ext cx="5146393" cy="228659"/>
          </a:xfrm>
          <a:prstGeom prst="rect">
            <a:avLst/>
          </a:prstGeom>
        </p:spPr>
        <p:txBody>
          <a:bodyPr vert="horz" lIns="91440" tIns="45720" rIns="91440" bIns="45720" rtlCol="0" anchor="b"/>
          <a:lstStyle>
            <a:lvl1pPr algn="l">
              <a:defRPr sz="900" b="1" i="0">
                <a:solidFill>
                  <a:schemeClr val="accent1"/>
                </a:solidFill>
              </a:defRPr>
            </a:lvl1pPr>
          </a:lstStyle>
          <a:p>
            <a:r>
              <a:rPr lang="en-US"/>
              <a:t>Magdalene Back | TUM School of Management</a:t>
            </a:r>
            <a:endParaRPr lang="en-US" dirty="0"/>
          </a:p>
        </p:txBody>
      </p:sp>
      <p:sp>
        <p:nvSpPr>
          <p:cNvPr id="29" name="Rectangle 28"/>
          <p:cNvSpPr/>
          <p:nvPr/>
        </p:nvSpPr>
        <p:spPr>
          <a:xfrm>
            <a:off x="10327525" y="0"/>
            <a:ext cx="9144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tIns="180000" bIns="108000"/>
          <a:lstStyle/>
          <a:p>
            <a:endParaRPr lang="de-DE" sz="1400" dirty="0"/>
          </a:p>
          <a:p>
            <a:endParaRPr lang="de-DE" sz="1400" dirty="0"/>
          </a:p>
          <a:p>
            <a:endParaRPr lang="de-DE" sz="1400" dirty="0"/>
          </a:p>
          <a:p>
            <a:fld id="{C05DBFD5-6ED5-CD44-A910-717F99551BD7}" type="slidenum">
              <a:rPr lang="de-DE" sz="1400" smtClean="0"/>
              <a:t>‹Nr.›</a:t>
            </a:fld>
            <a:endParaRPr lang="de-DE" sz="1400" dirty="0"/>
          </a:p>
        </p:txBody>
      </p:sp>
      <p:sp>
        <p:nvSpPr>
          <p:cNvPr id="21" name="Title 1">
            <a:extLst>
              <a:ext uri="{FF2B5EF4-FFF2-40B4-BE49-F238E27FC236}">
                <a16:creationId xmlns:a16="http://schemas.microsoft.com/office/drawing/2014/main" id="{9F12C9FB-331C-5D41-9249-E16A851C43AC}"/>
              </a:ext>
            </a:extLst>
          </p:cNvPr>
          <p:cNvSpPr txBox="1">
            <a:spLocks/>
          </p:cNvSpPr>
          <p:nvPr userDrawn="1"/>
        </p:nvSpPr>
        <p:spPr>
          <a:xfrm>
            <a:off x="291012" y="128336"/>
            <a:ext cx="9789136" cy="709865"/>
          </a:xfrm>
          <a:prstGeom prst="rect">
            <a:avLst/>
          </a:prstGeom>
        </p:spPr>
        <p:txBody>
          <a:bodyPr/>
          <a:lst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3200" dirty="0"/>
          </a:p>
        </p:txBody>
      </p:sp>
    </p:spTree>
    <p:extLst>
      <p:ext uri="{BB962C8B-B14F-4D97-AF65-F5344CB8AC3E}">
        <p14:creationId xmlns:p14="http://schemas.microsoft.com/office/powerpoint/2010/main" val="303004950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7" r:id="rId6"/>
    <p:sldLayoutId id="2147483678" r:id="rId7"/>
  </p:sldLayoutIdLst>
  <p:hf sldNum="0" hdr="0" dt="0"/>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DDC931-1D65-4255-8C0C-1B366440B2EA}"/>
              </a:ext>
            </a:extLst>
          </p:cNvPr>
          <p:cNvSpPr>
            <a:spLocks noGrp="1"/>
          </p:cNvSpPr>
          <p:nvPr>
            <p:ph type="ctrTitle"/>
          </p:nvPr>
        </p:nvSpPr>
        <p:spPr>
          <a:xfrm>
            <a:off x="1182865" y="712099"/>
            <a:ext cx="9456155" cy="3787165"/>
          </a:xfrm>
          <a:ln>
            <a:solidFill>
              <a:schemeClr val="bg1"/>
            </a:solidFill>
          </a:ln>
        </p:spPr>
        <p:txBody>
          <a:bodyPr/>
          <a:lstStyle/>
          <a:p>
            <a:pPr algn="ctr"/>
            <a:br>
              <a:rPr lang="de-DE" sz="4400" b="1" dirty="0">
                <a:latin typeface="Helvetica" panose="020B0604020202020204" pitchFamily="34" charset="0"/>
                <a:cs typeface="Helvetica" panose="020B0604020202020204" pitchFamily="34" charset="0"/>
              </a:rPr>
            </a:br>
            <a:r>
              <a:rPr lang="de-DE" sz="4400" dirty="0" err="1"/>
              <a:t>Professorship</a:t>
            </a:r>
            <a:r>
              <a:rPr lang="de-DE" sz="4400" dirty="0"/>
              <a:t> </a:t>
            </a:r>
            <a:r>
              <a:rPr lang="de-DE" sz="4400" dirty="0" err="1"/>
              <a:t>of</a:t>
            </a:r>
            <a:r>
              <a:rPr lang="de-DE" sz="4400" dirty="0"/>
              <a:t> Corporate Law</a:t>
            </a:r>
            <a:br>
              <a:rPr lang="de-DE" sz="4400" dirty="0"/>
            </a:br>
            <a:r>
              <a:rPr lang="de-DE" sz="3600" dirty="0"/>
              <a:t>Prof. Dr. Stefanie Jung, M.A. (</a:t>
            </a:r>
            <a:r>
              <a:rPr lang="de-DE" sz="3600" dirty="0" err="1"/>
              <a:t>CoE</a:t>
            </a:r>
            <a:r>
              <a:rPr lang="de-DE" sz="3600" dirty="0"/>
              <a:t>)</a:t>
            </a:r>
            <a:br>
              <a:rPr lang="de-DE" sz="3600" dirty="0"/>
            </a:br>
            <a:r>
              <a:rPr lang="de-DE" sz="3600" dirty="0"/>
              <a:t> </a:t>
            </a:r>
            <a:br>
              <a:rPr lang="de-DE" sz="4400" dirty="0"/>
            </a:br>
            <a:r>
              <a:rPr lang="de-DE" sz="4400" b="1" dirty="0" err="1"/>
              <a:t>Introduction</a:t>
            </a:r>
            <a:r>
              <a:rPr lang="de-DE" sz="4400" b="1" dirty="0"/>
              <a:t> </a:t>
            </a:r>
            <a:r>
              <a:rPr lang="de-DE" sz="4400" b="1" dirty="0" err="1"/>
              <a:t>to</a:t>
            </a:r>
            <a:r>
              <a:rPr lang="de-DE" sz="4400" b="1" dirty="0"/>
              <a:t> </a:t>
            </a:r>
            <a:r>
              <a:rPr lang="de-DE" sz="4400" b="1" dirty="0">
                <a:latin typeface="Helvetica" panose="020B0604020202020204" pitchFamily="34" charset="0"/>
                <a:cs typeface="Helvetica" panose="020B0604020202020204" pitchFamily="34" charset="0"/>
              </a:rPr>
              <a:t>Business Law</a:t>
            </a:r>
            <a:br>
              <a:rPr lang="de-DE" dirty="0"/>
            </a:br>
            <a:r>
              <a:rPr lang="de-DE" sz="3600" dirty="0"/>
              <a:t>Practice - Legal </a:t>
            </a:r>
            <a:r>
              <a:rPr lang="de-DE" sz="3600" dirty="0" err="1"/>
              <a:t>opinion</a:t>
            </a:r>
            <a:r>
              <a:rPr lang="de-DE" sz="3600" dirty="0"/>
              <a:t> style</a:t>
            </a:r>
            <a:br>
              <a:rPr lang="de-DE" sz="3600" dirty="0"/>
            </a:br>
            <a:endParaRPr lang="de-DE" sz="3200" dirty="0"/>
          </a:p>
        </p:txBody>
      </p:sp>
      <p:sp>
        <p:nvSpPr>
          <p:cNvPr id="4" name="Rechteck 3"/>
          <p:cNvSpPr/>
          <p:nvPr/>
        </p:nvSpPr>
        <p:spPr>
          <a:xfrm>
            <a:off x="7377545" y="4062845"/>
            <a:ext cx="3262746" cy="15794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5" name="Rechteck 4"/>
          <p:cNvSpPr/>
          <p:nvPr/>
        </p:nvSpPr>
        <p:spPr>
          <a:xfrm>
            <a:off x="7864647" y="4852554"/>
            <a:ext cx="2774373" cy="646331"/>
          </a:xfrm>
          <a:prstGeom prst="rect">
            <a:avLst/>
          </a:prstGeom>
          <a:ln>
            <a:solidFill>
              <a:schemeClr val="bg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Century Gothic" panose="020B0502020202020204"/>
                <a:ea typeface="+mn-ea"/>
                <a:cs typeface="+mn-cs"/>
              </a:rPr>
              <a:t>Summer </a:t>
            </a:r>
            <a:r>
              <a:rPr kumimoji="0" lang="de-DE" sz="1800" b="0" i="0" u="none" strike="noStrike" kern="1200" cap="none" spc="0" normalizeH="0" baseline="0" noProof="0" dirty="0" err="1">
                <a:ln>
                  <a:noFill/>
                </a:ln>
                <a:solidFill>
                  <a:prstClr val="white"/>
                </a:solidFill>
                <a:effectLst/>
                <a:uLnTx/>
                <a:uFillTx/>
                <a:latin typeface="Century Gothic" panose="020B0502020202020204"/>
                <a:ea typeface="+mn-ea"/>
                <a:cs typeface="+mn-cs"/>
              </a:rPr>
              <a:t>term</a:t>
            </a:r>
            <a:r>
              <a:rPr lang="de-DE" dirty="0">
                <a:solidFill>
                  <a:prstClr val="white"/>
                </a:solidFill>
                <a:latin typeface="Century Gothic" panose="020B0502020202020204"/>
              </a:rPr>
              <a:t> </a:t>
            </a:r>
            <a:r>
              <a:rPr kumimoji="0" lang="de-DE" sz="1800" b="0" i="0" u="none" strike="noStrike" kern="1200" cap="none" spc="0" normalizeH="0" baseline="0" noProof="0" dirty="0">
                <a:ln>
                  <a:noFill/>
                </a:ln>
                <a:solidFill>
                  <a:prstClr val="white"/>
                </a:solidFill>
                <a:effectLst/>
                <a:uLnTx/>
                <a:uFillTx/>
                <a:latin typeface="Century Gothic" panose="020B0502020202020204"/>
                <a:ea typeface="+mn-ea"/>
                <a:cs typeface="+mn-cs"/>
              </a:rPr>
              <a:t>2026</a:t>
            </a:r>
            <a:br>
              <a:rPr kumimoji="0" lang="de-DE" sz="2800" b="0" i="0" u="none" strike="noStrike" kern="1200" cap="none" spc="0" normalizeH="0" baseline="0" noProof="0" dirty="0">
                <a:ln>
                  <a:noFill/>
                </a:ln>
                <a:solidFill>
                  <a:prstClr val="white"/>
                </a:solidFill>
                <a:effectLst/>
                <a:uLnTx/>
                <a:uFillTx/>
                <a:latin typeface="Century Gothic" panose="020B0502020202020204"/>
                <a:ea typeface="+mn-ea"/>
                <a:cs typeface="+mn-cs"/>
              </a:rPr>
            </a:br>
            <a:endParaRPr kumimoji="0" lang="en-GB"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146371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Remarks</a:t>
            </a:r>
            <a:endParaRPr lang="en-GB" i="1" dirty="0"/>
          </a:p>
        </p:txBody>
      </p:sp>
      <p:sp>
        <p:nvSpPr>
          <p:cNvPr id="3" name="Inhaltsplatzhalter 2"/>
          <p:cNvSpPr>
            <a:spLocks noGrp="1"/>
          </p:cNvSpPr>
          <p:nvPr>
            <p:ph idx="1"/>
          </p:nvPr>
        </p:nvSpPr>
        <p:spPr>
          <a:xfrm>
            <a:off x="291013" y="1111815"/>
            <a:ext cx="11644313" cy="5261381"/>
          </a:xfrm>
        </p:spPr>
        <p:txBody>
          <a:bodyPr>
            <a:noAutofit/>
          </a:bodyPr>
          <a:lstStyle/>
          <a:p>
            <a:pPr marL="402336"/>
            <a:r>
              <a:rPr lang="de-DE" b="1" dirty="0">
                <a:solidFill>
                  <a:schemeClr val="tx1"/>
                </a:solidFill>
              </a:rPr>
              <a:t>Practice - Legal </a:t>
            </a:r>
            <a:r>
              <a:rPr lang="de-DE" b="1" dirty="0" err="1">
                <a:solidFill>
                  <a:schemeClr val="tx1"/>
                </a:solidFill>
              </a:rPr>
              <a:t>opinion</a:t>
            </a:r>
            <a:r>
              <a:rPr lang="de-DE" b="1" dirty="0">
                <a:solidFill>
                  <a:schemeClr val="tx1"/>
                </a:solidFill>
              </a:rPr>
              <a:t> style:</a:t>
            </a:r>
          </a:p>
          <a:p>
            <a:pPr marL="745236" lvl="1"/>
            <a:r>
              <a:rPr lang="de-DE" sz="2800" u="sng" dirty="0" err="1">
                <a:solidFill>
                  <a:schemeClr val="tx1"/>
                </a:solidFill>
              </a:rPr>
              <a:t>Very</a:t>
            </a:r>
            <a:r>
              <a:rPr lang="de-DE" sz="2800" u="sng" dirty="0">
                <a:solidFill>
                  <a:schemeClr val="tx1"/>
                </a:solidFill>
              </a:rPr>
              <a:t> </a:t>
            </a:r>
            <a:r>
              <a:rPr lang="de-DE" sz="2800" u="sng" dirty="0" err="1">
                <a:solidFill>
                  <a:schemeClr val="tx1"/>
                </a:solidFill>
              </a:rPr>
              <a:t>short</a:t>
            </a:r>
            <a:r>
              <a:rPr lang="de-DE" sz="2800" u="sng" dirty="0">
                <a:solidFill>
                  <a:schemeClr val="tx1"/>
                </a:solidFill>
              </a:rPr>
              <a:t> </a:t>
            </a:r>
            <a:r>
              <a:rPr lang="de-DE" sz="2800" u="sng" dirty="0" err="1">
                <a:solidFill>
                  <a:schemeClr val="tx1"/>
                </a:solidFill>
              </a:rPr>
              <a:t>and</a:t>
            </a:r>
            <a:r>
              <a:rPr lang="de-DE" sz="2800" u="sng" dirty="0">
                <a:solidFill>
                  <a:schemeClr val="tx1"/>
                </a:solidFill>
              </a:rPr>
              <a:t> simple </a:t>
            </a:r>
            <a:r>
              <a:rPr lang="de-DE" sz="2800" u="sng" dirty="0" err="1">
                <a:solidFill>
                  <a:schemeClr val="tx1"/>
                </a:solidFill>
              </a:rPr>
              <a:t>case</a:t>
            </a:r>
            <a:r>
              <a:rPr lang="de-DE" sz="2800" u="sng" dirty="0">
                <a:solidFill>
                  <a:schemeClr val="tx1"/>
                </a:solidFill>
              </a:rPr>
              <a:t> </a:t>
            </a:r>
          </a:p>
          <a:p>
            <a:pPr marL="745236" lvl="1"/>
            <a:r>
              <a:rPr lang="en-US" sz="2800" dirty="0">
                <a:solidFill>
                  <a:schemeClr val="tx1"/>
                </a:solidFill>
              </a:rPr>
              <a:t>Case is designed for writing a legal opinion for the first time</a:t>
            </a:r>
            <a:endParaRPr lang="de-DE" sz="2800" dirty="0">
              <a:solidFill>
                <a:schemeClr val="tx1"/>
              </a:solidFill>
            </a:endParaRPr>
          </a:p>
          <a:p>
            <a:pPr marL="59436" indent="0">
              <a:buNone/>
            </a:pPr>
            <a:endParaRPr lang="de-DE" sz="1400" dirty="0"/>
          </a:p>
          <a:p>
            <a:pPr marL="402336"/>
            <a:r>
              <a:rPr lang="de-DE" b="1" dirty="0" err="1">
                <a:solidFill>
                  <a:schemeClr val="tx1"/>
                </a:solidFill>
              </a:rPr>
              <a:t>Exam</a:t>
            </a:r>
            <a:r>
              <a:rPr lang="de-DE" b="1" dirty="0">
                <a:solidFill>
                  <a:schemeClr val="tx1"/>
                </a:solidFill>
              </a:rPr>
              <a:t> </a:t>
            </a:r>
            <a:r>
              <a:rPr lang="de-DE" b="1" dirty="0" err="1">
                <a:solidFill>
                  <a:schemeClr val="tx1"/>
                </a:solidFill>
              </a:rPr>
              <a:t>level</a:t>
            </a:r>
            <a:r>
              <a:rPr lang="de-DE" b="1" dirty="0">
                <a:solidFill>
                  <a:schemeClr val="tx1"/>
                </a:solidFill>
              </a:rPr>
              <a:t> </a:t>
            </a:r>
            <a:r>
              <a:rPr lang="de-DE" b="1" dirty="0" err="1">
                <a:solidFill>
                  <a:schemeClr val="tx1"/>
                </a:solidFill>
              </a:rPr>
              <a:t>cases</a:t>
            </a:r>
            <a:r>
              <a:rPr lang="de-DE" b="1" dirty="0">
                <a:solidFill>
                  <a:schemeClr val="tx1"/>
                </a:solidFill>
              </a:rPr>
              <a:t>:</a:t>
            </a:r>
          </a:p>
          <a:p>
            <a:pPr marL="745236" lvl="1"/>
            <a:r>
              <a:rPr lang="de-DE" sz="2800" dirty="0" err="1">
                <a:solidFill>
                  <a:schemeClr val="tx1"/>
                </a:solidFill>
              </a:rPr>
              <a:t>Example</a:t>
            </a:r>
            <a:r>
              <a:rPr lang="de-DE" sz="2800" dirty="0">
                <a:solidFill>
                  <a:schemeClr val="tx1"/>
                </a:solidFill>
              </a:rPr>
              <a:t> </a:t>
            </a:r>
            <a:r>
              <a:rPr lang="de-DE" sz="2800" dirty="0" err="1">
                <a:solidFill>
                  <a:schemeClr val="tx1"/>
                </a:solidFill>
              </a:rPr>
              <a:t>exam</a:t>
            </a:r>
            <a:r>
              <a:rPr lang="de-DE" sz="2800" dirty="0">
                <a:solidFill>
                  <a:schemeClr val="tx1"/>
                </a:solidFill>
              </a:rPr>
              <a:t> I</a:t>
            </a:r>
          </a:p>
          <a:p>
            <a:pPr marL="745236" lvl="1"/>
            <a:r>
              <a:rPr lang="de-DE" sz="2800" dirty="0" err="1">
                <a:solidFill>
                  <a:schemeClr val="tx1"/>
                </a:solidFill>
              </a:rPr>
              <a:t>Example</a:t>
            </a:r>
            <a:r>
              <a:rPr lang="de-DE" sz="2800" dirty="0">
                <a:solidFill>
                  <a:schemeClr val="tx1"/>
                </a:solidFill>
              </a:rPr>
              <a:t> </a:t>
            </a:r>
            <a:r>
              <a:rPr lang="de-DE" sz="2800" dirty="0" err="1">
                <a:solidFill>
                  <a:schemeClr val="tx1"/>
                </a:solidFill>
              </a:rPr>
              <a:t>exam</a:t>
            </a:r>
            <a:r>
              <a:rPr lang="de-DE" sz="2800" dirty="0">
                <a:solidFill>
                  <a:schemeClr val="tx1"/>
                </a:solidFill>
              </a:rPr>
              <a:t> II</a:t>
            </a:r>
          </a:p>
          <a:p>
            <a:pPr marL="745236" lvl="1"/>
            <a:r>
              <a:rPr lang="de-DE" sz="2800" dirty="0">
                <a:solidFill>
                  <a:schemeClr val="tx1"/>
                </a:solidFill>
              </a:rPr>
              <a:t>Mock </a:t>
            </a:r>
            <a:r>
              <a:rPr lang="de-DE" sz="2800" dirty="0" err="1">
                <a:solidFill>
                  <a:schemeClr val="tx1"/>
                </a:solidFill>
              </a:rPr>
              <a:t>exam</a:t>
            </a:r>
            <a:endParaRPr lang="de-DE" sz="2800" dirty="0">
              <a:solidFill>
                <a:schemeClr val="tx1"/>
              </a:solidFill>
            </a:endParaRPr>
          </a:p>
          <a:p>
            <a:pPr marL="59436" indent="0">
              <a:buNone/>
            </a:pPr>
            <a:endParaRPr lang="de-DE" dirty="0">
              <a:solidFill>
                <a:schemeClr val="tx1"/>
              </a:solidFill>
            </a:endParaRPr>
          </a:p>
        </p:txBody>
      </p:sp>
      <p:sp>
        <p:nvSpPr>
          <p:cNvPr id="6"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3657175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Case Facts</a:t>
            </a:r>
            <a:endParaRPr lang="en-GB" i="1" dirty="0"/>
          </a:p>
        </p:txBody>
      </p:sp>
      <p:sp>
        <p:nvSpPr>
          <p:cNvPr id="3" name="Inhaltsplatzhalter 2"/>
          <p:cNvSpPr>
            <a:spLocks noGrp="1"/>
          </p:cNvSpPr>
          <p:nvPr>
            <p:ph idx="1"/>
          </p:nvPr>
        </p:nvSpPr>
        <p:spPr>
          <a:xfrm>
            <a:off x="291012" y="1136529"/>
            <a:ext cx="11623196" cy="5261381"/>
          </a:xfrm>
        </p:spPr>
        <p:txBody>
          <a:bodyPr>
            <a:normAutofit fontScale="85000" lnSpcReduction="20000"/>
          </a:bodyPr>
          <a:lstStyle/>
          <a:p>
            <a:pPr marL="0" indent="0" algn="just">
              <a:buNone/>
            </a:pPr>
            <a:r>
              <a:rPr lang="en-US" dirty="0">
                <a:solidFill>
                  <a:schemeClr val="tx1"/>
                </a:solidFill>
              </a:rPr>
              <a:t>Art dealer D is employed by wealthy art collector C and regularly searches for her in galleries and studios for special pieces of art. Most of C's collection consists of sculptures with animal motifs, especially those by her favorite artist A.</a:t>
            </a:r>
          </a:p>
          <a:p>
            <a:pPr marL="0" indent="0" algn="just">
              <a:buNone/>
            </a:pPr>
            <a:r>
              <a:rPr lang="en-US" dirty="0">
                <a:solidFill>
                  <a:schemeClr val="tx1"/>
                </a:solidFill>
              </a:rPr>
              <a:t>As C is A's most loyal customer, A reveals to her in advance that he is working on a particularly interesting and unusual wolf sculpture made of bronze. On Monday C calls D so that he can secure the sculpture for her before other art lovers discover the magnificent piece. But when D arrives at A's studio, the sculpture has already been sold to museum M during the weekend. </a:t>
            </a:r>
          </a:p>
          <a:p>
            <a:pPr marL="0" indent="0" algn="just">
              <a:buNone/>
            </a:pPr>
            <a:r>
              <a:rPr lang="en-US" dirty="0">
                <a:solidFill>
                  <a:schemeClr val="tx1"/>
                </a:solidFill>
              </a:rPr>
              <a:t>D, who knows how much C likes A's sculptures, does not want to go back to her empty-handed. D therefore explained the situation to A and bought a hunting dog sculpture also of bronze that is very close to the desired sculpture and will fit in well with C's collection. C is surprised by this new addition, but she raises no objections and sets up the sculpture. </a:t>
            </a:r>
          </a:p>
          <a:p>
            <a:pPr marL="0" indent="0" algn="just">
              <a:buNone/>
            </a:pPr>
            <a:r>
              <a:rPr lang="en-US" b="1" dirty="0">
                <a:solidFill>
                  <a:schemeClr val="tx1"/>
                </a:solidFill>
              </a:rPr>
              <a:t>Question:</a:t>
            </a:r>
            <a:r>
              <a:rPr lang="en-US" dirty="0">
                <a:solidFill>
                  <a:schemeClr val="tx1"/>
                </a:solidFill>
              </a:rPr>
              <a:t> </a:t>
            </a:r>
          </a:p>
          <a:p>
            <a:pPr marL="0" indent="0" algn="just">
              <a:buNone/>
            </a:pPr>
            <a:r>
              <a:rPr lang="en-US" dirty="0">
                <a:solidFill>
                  <a:schemeClr val="tx1"/>
                </a:solidFill>
              </a:rPr>
              <a:t>Did D effectively represent C when he concluded the contract with A?</a:t>
            </a:r>
          </a:p>
          <a:p>
            <a:pPr marL="0" indent="0" algn="just">
              <a:buNone/>
            </a:pPr>
            <a:endParaRPr lang="en-US" dirty="0"/>
          </a:p>
        </p:txBody>
      </p:sp>
      <p:sp>
        <p:nvSpPr>
          <p:cNvPr id="5"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114295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Case Facts</a:t>
            </a:r>
            <a:endParaRPr lang="en-GB" i="1" dirty="0"/>
          </a:p>
        </p:txBody>
      </p:sp>
      <p:sp>
        <p:nvSpPr>
          <p:cNvPr id="3" name="Inhaltsplatzhalter 2"/>
          <p:cNvSpPr>
            <a:spLocks noGrp="1"/>
          </p:cNvSpPr>
          <p:nvPr>
            <p:ph idx="1"/>
          </p:nvPr>
        </p:nvSpPr>
        <p:spPr>
          <a:xfrm>
            <a:off x="291012" y="1136529"/>
            <a:ext cx="11623196" cy="5261381"/>
          </a:xfrm>
        </p:spPr>
        <p:txBody>
          <a:bodyPr>
            <a:normAutofit fontScale="85000" lnSpcReduction="20000"/>
          </a:bodyPr>
          <a:lstStyle/>
          <a:p>
            <a:pPr marL="0" indent="0" algn="just">
              <a:buNone/>
            </a:pPr>
            <a:r>
              <a:rPr lang="en-US" dirty="0">
                <a:solidFill>
                  <a:srgbClr val="FF0000"/>
                </a:solidFill>
              </a:rPr>
              <a:t>Art dealer D </a:t>
            </a:r>
            <a:r>
              <a:rPr lang="en-US" dirty="0"/>
              <a:t>is </a:t>
            </a:r>
            <a:r>
              <a:rPr lang="en-US" dirty="0">
                <a:solidFill>
                  <a:srgbClr val="FF0000"/>
                </a:solidFill>
              </a:rPr>
              <a:t>employed</a:t>
            </a:r>
            <a:r>
              <a:rPr lang="en-US" dirty="0"/>
              <a:t> by wealthy </a:t>
            </a:r>
            <a:r>
              <a:rPr lang="en-US" dirty="0">
                <a:solidFill>
                  <a:srgbClr val="FF0000"/>
                </a:solidFill>
              </a:rPr>
              <a:t>art collector C </a:t>
            </a:r>
            <a:r>
              <a:rPr lang="en-US" dirty="0"/>
              <a:t>and </a:t>
            </a:r>
            <a:r>
              <a:rPr lang="en-US" dirty="0">
                <a:solidFill>
                  <a:srgbClr val="FF0000"/>
                </a:solidFill>
              </a:rPr>
              <a:t>regularly searches for her in galleries and studios for special pieces of art</a:t>
            </a:r>
            <a:r>
              <a:rPr lang="en-US" dirty="0"/>
              <a:t>. Most of C's collection consists of sculptures with animal motifs, especially those by her favorite artist A.</a:t>
            </a:r>
          </a:p>
          <a:p>
            <a:pPr marL="0" indent="0" algn="just">
              <a:buNone/>
            </a:pPr>
            <a:r>
              <a:rPr lang="en-US" dirty="0"/>
              <a:t>As C is A's most loyal customer, </a:t>
            </a:r>
            <a:r>
              <a:rPr lang="en-US" dirty="0">
                <a:solidFill>
                  <a:srgbClr val="FF0000"/>
                </a:solidFill>
              </a:rPr>
              <a:t>A reveals to her in advance </a:t>
            </a:r>
            <a:r>
              <a:rPr lang="en-US" dirty="0"/>
              <a:t>that he is working on a particularly interesting and unusual wolf sculpture made of bronze. </a:t>
            </a:r>
            <a:r>
              <a:rPr lang="en-US" dirty="0">
                <a:solidFill>
                  <a:srgbClr val="FF0000"/>
                </a:solidFill>
              </a:rPr>
              <a:t>On Monday C calls D so that he can secure the sculpture for her </a:t>
            </a:r>
            <a:r>
              <a:rPr lang="en-US" dirty="0"/>
              <a:t>before other art lovers discover the magnificent piece. But when D arrives at A's studio, the </a:t>
            </a:r>
            <a:r>
              <a:rPr lang="en-US" dirty="0">
                <a:solidFill>
                  <a:srgbClr val="FF0000"/>
                </a:solidFill>
              </a:rPr>
              <a:t>sculpture has already been sold </a:t>
            </a:r>
            <a:r>
              <a:rPr lang="en-US" dirty="0"/>
              <a:t>to museum M during the weekend. </a:t>
            </a:r>
          </a:p>
          <a:p>
            <a:pPr marL="0" indent="0" algn="just">
              <a:buNone/>
            </a:pPr>
            <a:r>
              <a:rPr lang="en-US" dirty="0"/>
              <a:t>D, who knows how much C likes A's sculptures, does not want to go back to her empty-handed. D therefore </a:t>
            </a:r>
            <a:r>
              <a:rPr lang="en-US" dirty="0">
                <a:solidFill>
                  <a:srgbClr val="FF0000"/>
                </a:solidFill>
              </a:rPr>
              <a:t>explained the situation to A </a:t>
            </a:r>
            <a:r>
              <a:rPr lang="en-US" dirty="0"/>
              <a:t>and </a:t>
            </a:r>
            <a:r>
              <a:rPr lang="en-US" dirty="0">
                <a:solidFill>
                  <a:srgbClr val="FF0000"/>
                </a:solidFill>
              </a:rPr>
              <a:t>bought a hunting dog sculpture also of bronze that is very close to the desired sculpture and will fit in well with C's collection</a:t>
            </a:r>
            <a:r>
              <a:rPr lang="en-US" dirty="0"/>
              <a:t>. </a:t>
            </a:r>
            <a:r>
              <a:rPr lang="en-US" dirty="0">
                <a:solidFill>
                  <a:schemeClr val="tx1"/>
                </a:solidFill>
              </a:rPr>
              <a:t>C is surprised by this new addition, but she </a:t>
            </a:r>
            <a:r>
              <a:rPr lang="en-US" dirty="0">
                <a:solidFill>
                  <a:srgbClr val="FF0000"/>
                </a:solidFill>
              </a:rPr>
              <a:t>raises no objections and sets up the sculpture</a:t>
            </a:r>
            <a:r>
              <a:rPr lang="en-US" dirty="0">
                <a:solidFill>
                  <a:schemeClr val="tx1"/>
                </a:solidFill>
              </a:rPr>
              <a:t>. </a:t>
            </a:r>
            <a:endParaRPr lang="en-US" dirty="0"/>
          </a:p>
          <a:p>
            <a:pPr marL="0" indent="0" algn="just">
              <a:buNone/>
            </a:pPr>
            <a:r>
              <a:rPr lang="en-US" b="1" dirty="0"/>
              <a:t>Question:</a:t>
            </a:r>
            <a:r>
              <a:rPr lang="en-US" dirty="0"/>
              <a:t> </a:t>
            </a:r>
          </a:p>
          <a:p>
            <a:pPr marL="0" indent="0" algn="just">
              <a:buNone/>
            </a:pPr>
            <a:r>
              <a:rPr lang="en-US" dirty="0"/>
              <a:t>Did D effectively represent C when he concluded the contract with A?</a:t>
            </a:r>
          </a:p>
        </p:txBody>
      </p:sp>
      <p:sp>
        <p:nvSpPr>
          <p:cNvPr id="5"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2183312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Sketch</a:t>
            </a:r>
            <a:endParaRPr lang="en-GB" i="1" dirty="0"/>
          </a:p>
        </p:txBody>
      </p:sp>
      <p:sp>
        <p:nvSpPr>
          <p:cNvPr id="3" name="Inhaltsplatzhalter 2"/>
          <p:cNvSpPr>
            <a:spLocks noGrp="1"/>
          </p:cNvSpPr>
          <p:nvPr>
            <p:ph idx="1"/>
          </p:nvPr>
        </p:nvSpPr>
        <p:spPr/>
        <p:txBody>
          <a:bodyPr>
            <a:noAutofit/>
          </a:bodyPr>
          <a:lstStyle/>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endParaRPr lang="en-US" sz="2400" b="1" dirty="0"/>
          </a:p>
          <a:p>
            <a:pPr marL="0" indent="0" algn="just">
              <a:buNone/>
            </a:pPr>
            <a:endParaRPr lang="en-US" sz="2400" b="1" dirty="0">
              <a:solidFill>
                <a:schemeClr val="tx1"/>
              </a:solidFill>
            </a:endParaRPr>
          </a:p>
          <a:p>
            <a:pPr marL="0" indent="0" algn="just">
              <a:buNone/>
            </a:pPr>
            <a:r>
              <a:rPr lang="en-US" sz="2400" b="1" dirty="0">
                <a:solidFill>
                  <a:schemeClr val="tx1"/>
                </a:solidFill>
              </a:rPr>
              <a:t>Question:</a:t>
            </a:r>
            <a:r>
              <a:rPr lang="en-US" sz="2400" dirty="0">
                <a:solidFill>
                  <a:schemeClr val="tx1"/>
                </a:solidFill>
              </a:rPr>
              <a:t> </a:t>
            </a:r>
          </a:p>
          <a:p>
            <a:pPr marL="0" indent="0" algn="just">
              <a:buNone/>
            </a:pPr>
            <a:r>
              <a:rPr lang="en-US" sz="2400" dirty="0">
                <a:solidFill>
                  <a:schemeClr val="tx1"/>
                </a:solidFill>
              </a:rPr>
              <a:t>Did D effectively represent C when he concluded the contract with A?</a:t>
            </a:r>
          </a:p>
          <a:p>
            <a:pPr marL="59436" indent="0">
              <a:buNone/>
            </a:pPr>
            <a:endParaRPr lang="de-DE" sz="2400" dirty="0">
              <a:solidFill>
                <a:schemeClr val="tx1"/>
              </a:solidFill>
            </a:endParaRPr>
          </a:p>
        </p:txBody>
      </p:sp>
      <p:sp>
        <p:nvSpPr>
          <p:cNvPr id="5" name="Textfeld 4"/>
          <p:cNvSpPr txBox="1"/>
          <p:nvPr/>
        </p:nvSpPr>
        <p:spPr>
          <a:xfrm>
            <a:off x="1873465" y="3310529"/>
            <a:ext cx="3026055" cy="1015663"/>
          </a:xfrm>
          <a:prstGeom prst="rect">
            <a:avLst/>
          </a:prstGeom>
          <a:noFill/>
        </p:spPr>
        <p:txBody>
          <a:bodyPr wrap="square" rtlCol="0">
            <a:spAutoFit/>
          </a:bodyPr>
          <a:lstStyle/>
          <a:p>
            <a:pPr algn="ctr"/>
            <a:r>
              <a:rPr lang="en-GB" sz="2000" dirty="0"/>
              <a:t>purchase agreement § 433 BGB </a:t>
            </a:r>
            <a:br>
              <a:rPr lang="en-GB" sz="2000" dirty="0"/>
            </a:br>
            <a:r>
              <a:rPr lang="en-GB" sz="2000" dirty="0"/>
              <a:t>about </a:t>
            </a:r>
            <a:r>
              <a:rPr lang="en-GB" sz="2000" b="1" dirty="0"/>
              <a:t>dog</a:t>
            </a:r>
            <a:r>
              <a:rPr lang="en-GB" sz="2000" dirty="0"/>
              <a:t> sculpture? </a:t>
            </a:r>
          </a:p>
        </p:txBody>
      </p:sp>
      <p:sp>
        <p:nvSpPr>
          <p:cNvPr id="6" name="Ellipse 5"/>
          <p:cNvSpPr/>
          <p:nvPr/>
        </p:nvSpPr>
        <p:spPr>
          <a:xfrm>
            <a:off x="2925573" y="1528591"/>
            <a:ext cx="1080000" cy="1080000"/>
          </a:xfrm>
          <a:prstGeom prst="ellipse">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14000"/>
              </a:lnSpc>
            </a:pPr>
            <a:r>
              <a:rPr lang="de-DE" sz="2800" b="1" dirty="0"/>
              <a:t>D</a:t>
            </a:r>
            <a:endParaRPr lang="de-DE" sz="2400" b="1" dirty="0"/>
          </a:p>
        </p:txBody>
      </p:sp>
      <p:sp>
        <p:nvSpPr>
          <p:cNvPr id="7" name="Ellipse 6"/>
          <p:cNvSpPr/>
          <p:nvPr/>
        </p:nvSpPr>
        <p:spPr>
          <a:xfrm>
            <a:off x="7824655" y="1518237"/>
            <a:ext cx="1080000" cy="1080000"/>
          </a:xfrm>
          <a:prstGeom prst="ellipse">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14000"/>
              </a:lnSpc>
            </a:pPr>
            <a:r>
              <a:rPr lang="de-DE" sz="2800" b="1" dirty="0"/>
              <a:t>C</a:t>
            </a:r>
          </a:p>
        </p:txBody>
      </p:sp>
      <p:sp>
        <p:nvSpPr>
          <p:cNvPr id="8" name="Textfeld 7"/>
          <p:cNvSpPr txBox="1"/>
          <p:nvPr/>
        </p:nvSpPr>
        <p:spPr>
          <a:xfrm>
            <a:off x="4022829" y="1602648"/>
            <a:ext cx="3802158" cy="421013"/>
          </a:xfrm>
          <a:prstGeom prst="rect">
            <a:avLst/>
          </a:prstGeom>
          <a:noFill/>
        </p:spPr>
        <p:txBody>
          <a:bodyPr wrap="square" lIns="0" tIns="0" rIns="0" bIns="0" rtlCol="0">
            <a:spAutoFit/>
          </a:bodyPr>
          <a:lstStyle/>
          <a:p>
            <a:pPr algn="ctr">
              <a:lnSpc>
                <a:spcPct val="114000"/>
              </a:lnSpc>
            </a:pPr>
            <a:r>
              <a:rPr lang="de-DE" sz="2400" b="1" dirty="0" err="1">
                <a:solidFill>
                  <a:srgbClr val="FF0000"/>
                </a:solidFill>
                <a:latin typeface="Arial Black" panose="020B0A04020102020204" pitchFamily="34" charset="0"/>
              </a:rPr>
              <a:t>effective</a:t>
            </a:r>
            <a:r>
              <a:rPr lang="de-DE" sz="2400" b="1" dirty="0">
                <a:solidFill>
                  <a:srgbClr val="FF0000"/>
                </a:solidFill>
                <a:latin typeface="Arial Black" panose="020B0A04020102020204" pitchFamily="34" charset="0"/>
              </a:rPr>
              <a:t> </a:t>
            </a:r>
            <a:r>
              <a:rPr lang="de-DE" sz="2400" b="1" dirty="0" err="1">
                <a:solidFill>
                  <a:srgbClr val="FF0000"/>
                </a:solidFill>
                <a:latin typeface="Arial Black" panose="020B0A04020102020204" pitchFamily="34" charset="0"/>
              </a:rPr>
              <a:t>agency</a:t>
            </a:r>
            <a:r>
              <a:rPr lang="de-DE" sz="2400" b="1" dirty="0">
                <a:solidFill>
                  <a:srgbClr val="FF0000"/>
                </a:solidFill>
                <a:latin typeface="Arial Black" panose="020B0A04020102020204" pitchFamily="34" charset="0"/>
              </a:rPr>
              <a:t>?</a:t>
            </a:r>
          </a:p>
        </p:txBody>
      </p:sp>
      <p:sp>
        <p:nvSpPr>
          <p:cNvPr id="9" name="Rechteck 8"/>
          <p:cNvSpPr/>
          <p:nvPr/>
        </p:nvSpPr>
        <p:spPr>
          <a:xfrm>
            <a:off x="8760518" y="1356187"/>
            <a:ext cx="499667" cy="492443"/>
          </a:xfrm>
          <a:prstGeom prst="rect">
            <a:avLst/>
          </a:prstGeom>
        </p:spPr>
        <p:txBody>
          <a:bodyPr wrap="square">
            <a:spAutoFit/>
          </a:bodyPr>
          <a:lstStyle/>
          <a:p>
            <a:r>
              <a:rPr lang="de-DE" sz="2600" b="1" dirty="0">
                <a:solidFill>
                  <a:srgbClr val="202122"/>
                </a:solidFill>
                <a:latin typeface="Arial Black" panose="020B0A04020102020204" pitchFamily="34" charset="0"/>
              </a:rPr>
              <a:t>♀</a:t>
            </a:r>
            <a:endParaRPr lang="de-DE" sz="2600" b="1" dirty="0">
              <a:latin typeface="Arial Black" panose="020B0A04020102020204" pitchFamily="34" charset="0"/>
            </a:endParaRPr>
          </a:p>
        </p:txBody>
      </p:sp>
      <p:sp>
        <p:nvSpPr>
          <p:cNvPr id="10" name="Rechteck 9"/>
          <p:cNvSpPr/>
          <p:nvPr/>
        </p:nvSpPr>
        <p:spPr>
          <a:xfrm>
            <a:off x="3818967" y="1256234"/>
            <a:ext cx="364371" cy="523220"/>
          </a:xfrm>
          <a:prstGeom prst="rect">
            <a:avLst/>
          </a:prstGeom>
        </p:spPr>
        <p:txBody>
          <a:bodyPr wrap="square">
            <a:spAutoFit/>
          </a:bodyPr>
          <a:lstStyle/>
          <a:p>
            <a:r>
              <a:rPr lang="de-DE" sz="2800" b="1" dirty="0">
                <a:latin typeface="Arial Black" panose="020B0A04020102020204" pitchFamily="34" charset="0"/>
              </a:rPr>
              <a:t>♂</a:t>
            </a:r>
          </a:p>
        </p:txBody>
      </p:sp>
      <p:sp>
        <p:nvSpPr>
          <p:cNvPr id="11" name="Textfeld 10"/>
          <p:cNvSpPr txBox="1"/>
          <p:nvPr/>
        </p:nvSpPr>
        <p:spPr>
          <a:xfrm>
            <a:off x="2849098" y="2673158"/>
            <a:ext cx="1844250" cy="320024"/>
          </a:xfrm>
          <a:prstGeom prst="rect">
            <a:avLst/>
          </a:prstGeom>
          <a:noFill/>
        </p:spPr>
        <p:txBody>
          <a:bodyPr wrap="square" lIns="0" tIns="0" rIns="0" bIns="0" rtlCol="0">
            <a:spAutoFit/>
          </a:bodyPr>
          <a:lstStyle/>
          <a:p>
            <a:pPr>
              <a:lnSpc>
                <a:spcPct val="114000"/>
              </a:lnSpc>
            </a:pPr>
            <a:r>
              <a:rPr lang="de-DE" sz="2000" dirty="0" err="1">
                <a:latin typeface="+mn-lt"/>
              </a:rPr>
              <a:t>art</a:t>
            </a:r>
            <a:r>
              <a:rPr lang="de-DE" sz="2000" dirty="0">
                <a:latin typeface="+mn-lt"/>
              </a:rPr>
              <a:t> </a:t>
            </a:r>
            <a:r>
              <a:rPr lang="de-DE" sz="2000" dirty="0" err="1">
                <a:latin typeface="+mn-lt"/>
              </a:rPr>
              <a:t>dealer</a:t>
            </a:r>
            <a:endParaRPr lang="de-DE" sz="1600" dirty="0">
              <a:latin typeface="+mn-lt"/>
            </a:endParaRPr>
          </a:p>
        </p:txBody>
      </p:sp>
      <p:sp>
        <p:nvSpPr>
          <p:cNvPr id="12" name="Textfeld 11"/>
          <p:cNvSpPr txBox="1"/>
          <p:nvPr/>
        </p:nvSpPr>
        <p:spPr>
          <a:xfrm>
            <a:off x="7824368" y="2656986"/>
            <a:ext cx="1844250" cy="320024"/>
          </a:xfrm>
          <a:prstGeom prst="rect">
            <a:avLst/>
          </a:prstGeom>
          <a:noFill/>
        </p:spPr>
        <p:txBody>
          <a:bodyPr wrap="square" lIns="0" tIns="0" rIns="0" bIns="0" rtlCol="0">
            <a:spAutoFit/>
          </a:bodyPr>
          <a:lstStyle/>
          <a:p>
            <a:pPr>
              <a:lnSpc>
                <a:spcPct val="114000"/>
              </a:lnSpc>
            </a:pPr>
            <a:r>
              <a:rPr lang="de-DE" sz="2000" dirty="0" err="1">
                <a:latin typeface="+mn-lt"/>
              </a:rPr>
              <a:t>art</a:t>
            </a:r>
            <a:r>
              <a:rPr lang="de-DE" sz="2000" dirty="0">
                <a:latin typeface="+mn-lt"/>
              </a:rPr>
              <a:t> </a:t>
            </a:r>
            <a:r>
              <a:rPr lang="de-DE" sz="2000" dirty="0" err="1">
                <a:latin typeface="+mn-lt"/>
              </a:rPr>
              <a:t>collector</a:t>
            </a:r>
            <a:endParaRPr lang="de-DE" sz="1600" dirty="0">
              <a:latin typeface="+mn-lt"/>
            </a:endParaRPr>
          </a:p>
        </p:txBody>
      </p:sp>
      <p:sp>
        <p:nvSpPr>
          <p:cNvPr id="13" name="Ellipse 12"/>
          <p:cNvSpPr/>
          <p:nvPr/>
        </p:nvSpPr>
        <p:spPr>
          <a:xfrm>
            <a:off x="5467619" y="4256983"/>
            <a:ext cx="1080000" cy="1080000"/>
          </a:xfrm>
          <a:prstGeom prst="ellipse">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14000"/>
              </a:lnSpc>
            </a:pPr>
            <a:r>
              <a:rPr lang="de-DE" sz="2800" b="1" dirty="0"/>
              <a:t>A</a:t>
            </a:r>
          </a:p>
        </p:txBody>
      </p:sp>
      <p:sp>
        <p:nvSpPr>
          <p:cNvPr id="14" name="Rechteck 13"/>
          <p:cNvSpPr/>
          <p:nvPr/>
        </p:nvSpPr>
        <p:spPr>
          <a:xfrm>
            <a:off x="6424575" y="4094933"/>
            <a:ext cx="442905" cy="522432"/>
          </a:xfrm>
          <a:prstGeom prst="rect">
            <a:avLst/>
          </a:prstGeom>
        </p:spPr>
        <p:txBody>
          <a:bodyPr wrap="square">
            <a:spAutoFit/>
          </a:bodyPr>
          <a:lstStyle/>
          <a:p>
            <a:r>
              <a:rPr lang="de-DE" sz="2800" b="1" dirty="0">
                <a:latin typeface="Arial Black" panose="020B0A04020102020204" pitchFamily="34" charset="0"/>
              </a:rPr>
              <a:t>♂</a:t>
            </a:r>
          </a:p>
        </p:txBody>
      </p:sp>
      <p:cxnSp>
        <p:nvCxnSpPr>
          <p:cNvPr id="15" name="Gerader Verbinder 14"/>
          <p:cNvCxnSpPr>
            <a:stCxn id="6" idx="6"/>
            <a:endCxn id="7" idx="2"/>
          </p:cNvCxnSpPr>
          <p:nvPr/>
        </p:nvCxnSpPr>
        <p:spPr>
          <a:xfrm flipV="1">
            <a:off x="4005573" y="2058237"/>
            <a:ext cx="3819082" cy="10354"/>
          </a:xfrm>
          <a:prstGeom prst="line">
            <a:avLst/>
          </a:prstGeom>
        </p:spPr>
        <p:style>
          <a:lnRef idx="3">
            <a:schemeClr val="accent1"/>
          </a:lnRef>
          <a:fillRef idx="0">
            <a:schemeClr val="accent1"/>
          </a:fillRef>
          <a:effectRef idx="2">
            <a:schemeClr val="accent1"/>
          </a:effectRef>
          <a:fontRef idx="minor">
            <a:schemeClr val="tx1"/>
          </a:fontRef>
        </p:style>
      </p:cxnSp>
      <p:sp>
        <p:nvSpPr>
          <p:cNvPr id="16" name="Textfeld 15"/>
          <p:cNvSpPr txBox="1"/>
          <p:nvPr/>
        </p:nvSpPr>
        <p:spPr>
          <a:xfrm>
            <a:off x="5741001" y="5336983"/>
            <a:ext cx="870964" cy="355374"/>
          </a:xfrm>
          <a:prstGeom prst="rect">
            <a:avLst/>
          </a:prstGeom>
          <a:noFill/>
        </p:spPr>
        <p:txBody>
          <a:bodyPr wrap="square" lIns="0" tIns="0" rIns="0" bIns="0" rtlCol="0">
            <a:spAutoFit/>
          </a:bodyPr>
          <a:lstStyle/>
          <a:p>
            <a:pPr>
              <a:lnSpc>
                <a:spcPct val="114000"/>
              </a:lnSpc>
            </a:pPr>
            <a:r>
              <a:rPr lang="de-DE" sz="2000" dirty="0" err="1"/>
              <a:t>artist</a:t>
            </a:r>
            <a:endParaRPr lang="de-DE" sz="1600" dirty="0">
              <a:latin typeface="+mn-lt"/>
            </a:endParaRPr>
          </a:p>
        </p:txBody>
      </p:sp>
      <p:cxnSp>
        <p:nvCxnSpPr>
          <p:cNvPr id="17" name="Gerader Verbinder 16"/>
          <p:cNvCxnSpPr>
            <a:stCxn id="6" idx="5"/>
            <a:endCxn id="13" idx="1"/>
          </p:cNvCxnSpPr>
          <p:nvPr/>
        </p:nvCxnSpPr>
        <p:spPr>
          <a:xfrm>
            <a:off x="3847411" y="2450429"/>
            <a:ext cx="1778370" cy="1964716"/>
          </a:xfrm>
          <a:prstGeom prst="line">
            <a:avLst/>
          </a:prstGeom>
        </p:spPr>
        <p:style>
          <a:lnRef idx="3">
            <a:schemeClr val="accent1"/>
          </a:lnRef>
          <a:fillRef idx="0">
            <a:schemeClr val="accent1"/>
          </a:fillRef>
          <a:effectRef idx="2">
            <a:schemeClr val="accent1"/>
          </a:effectRef>
          <a:fontRef idx="minor">
            <a:schemeClr val="tx1"/>
          </a:fontRef>
        </p:style>
      </p:cxnSp>
      <p:cxnSp>
        <p:nvCxnSpPr>
          <p:cNvPr id="18" name="Gerader Verbinder 17"/>
          <p:cNvCxnSpPr>
            <a:stCxn id="13" idx="7"/>
            <a:endCxn id="7" idx="3"/>
          </p:cNvCxnSpPr>
          <p:nvPr/>
        </p:nvCxnSpPr>
        <p:spPr>
          <a:xfrm flipV="1">
            <a:off x="6389457" y="2440075"/>
            <a:ext cx="1593360" cy="1975070"/>
          </a:xfrm>
          <a:prstGeom prst="line">
            <a:avLst/>
          </a:prstGeom>
        </p:spPr>
        <p:style>
          <a:lnRef idx="3">
            <a:schemeClr val="accent1"/>
          </a:lnRef>
          <a:fillRef idx="0">
            <a:schemeClr val="accent1"/>
          </a:fillRef>
          <a:effectRef idx="2">
            <a:schemeClr val="accent1"/>
          </a:effectRef>
          <a:fontRef idx="minor">
            <a:schemeClr val="tx1"/>
          </a:fontRef>
        </p:style>
      </p:cxnSp>
      <p:sp>
        <p:nvSpPr>
          <p:cNvPr id="19" name="Textfeld 18"/>
          <p:cNvSpPr txBox="1"/>
          <p:nvPr/>
        </p:nvSpPr>
        <p:spPr>
          <a:xfrm>
            <a:off x="3550295" y="1208664"/>
            <a:ext cx="4767775" cy="400110"/>
          </a:xfrm>
          <a:prstGeom prst="rect">
            <a:avLst/>
          </a:prstGeom>
          <a:noFill/>
        </p:spPr>
        <p:txBody>
          <a:bodyPr wrap="square" rtlCol="0">
            <a:spAutoFit/>
          </a:bodyPr>
          <a:lstStyle/>
          <a:p>
            <a:pPr algn="ctr"/>
            <a:r>
              <a:rPr lang="en-GB" sz="2000" dirty="0"/>
              <a:t>“get the </a:t>
            </a:r>
            <a:r>
              <a:rPr lang="en-GB" sz="2000" b="1" dirty="0"/>
              <a:t>wolf</a:t>
            </a:r>
            <a:r>
              <a:rPr lang="en-GB" sz="2000" dirty="0"/>
              <a:t> sculpture for me”</a:t>
            </a:r>
          </a:p>
        </p:txBody>
      </p:sp>
      <p:sp>
        <p:nvSpPr>
          <p:cNvPr id="20" name="Ellipse 19"/>
          <p:cNvSpPr/>
          <p:nvPr/>
        </p:nvSpPr>
        <p:spPr>
          <a:xfrm>
            <a:off x="9718453" y="4256983"/>
            <a:ext cx="1080000" cy="1080000"/>
          </a:xfrm>
          <a:prstGeom prst="ellipse">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14000"/>
              </a:lnSpc>
            </a:pPr>
            <a:r>
              <a:rPr lang="de-DE" sz="2800" b="1" dirty="0"/>
              <a:t>M</a:t>
            </a:r>
          </a:p>
        </p:txBody>
      </p:sp>
      <p:cxnSp>
        <p:nvCxnSpPr>
          <p:cNvPr id="21" name="Gerader Verbinder 20"/>
          <p:cNvCxnSpPr>
            <a:stCxn id="13" idx="6"/>
            <a:endCxn id="20" idx="2"/>
          </p:cNvCxnSpPr>
          <p:nvPr/>
        </p:nvCxnSpPr>
        <p:spPr>
          <a:xfrm>
            <a:off x="6547619" y="4796983"/>
            <a:ext cx="3170834" cy="0"/>
          </a:xfrm>
          <a:prstGeom prst="line">
            <a:avLst/>
          </a:prstGeom>
        </p:spPr>
        <p:style>
          <a:lnRef idx="3">
            <a:schemeClr val="accent1"/>
          </a:lnRef>
          <a:fillRef idx="0">
            <a:schemeClr val="accent1"/>
          </a:fillRef>
          <a:effectRef idx="2">
            <a:schemeClr val="accent1"/>
          </a:effectRef>
          <a:fontRef idx="minor">
            <a:schemeClr val="tx1"/>
          </a:fontRef>
        </p:style>
      </p:cxnSp>
      <p:sp>
        <p:nvSpPr>
          <p:cNvPr id="26" name="Textfeld 25"/>
          <p:cNvSpPr txBox="1"/>
          <p:nvPr/>
        </p:nvSpPr>
        <p:spPr>
          <a:xfrm>
            <a:off x="9782799" y="5339237"/>
            <a:ext cx="1080634" cy="350865"/>
          </a:xfrm>
          <a:prstGeom prst="rect">
            <a:avLst/>
          </a:prstGeom>
          <a:noFill/>
        </p:spPr>
        <p:txBody>
          <a:bodyPr wrap="square" lIns="0" tIns="0" rIns="0" bIns="0" rtlCol="0">
            <a:spAutoFit/>
          </a:bodyPr>
          <a:lstStyle/>
          <a:p>
            <a:pPr>
              <a:lnSpc>
                <a:spcPct val="114000"/>
              </a:lnSpc>
            </a:pPr>
            <a:r>
              <a:rPr lang="de-DE" sz="2000" dirty="0" err="1"/>
              <a:t>museum</a:t>
            </a:r>
            <a:endParaRPr lang="de-DE" sz="1600" dirty="0">
              <a:latin typeface="+mn-lt"/>
            </a:endParaRPr>
          </a:p>
        </p:txBody>
      </p:sp>
      <p:sp>
        <p:nvSpPr>
          <p:cNvPr id="27" name="Textfeld 26"/>
          <p:cNvSpPr txBox="1"/>
          <p:nvPr/>
        </p:nvSpPr>
        <p:spPr>
          <a:xfrm>
            <a:off x="6707319" y="4817300"/>
            <a:ext cx="2884394" cy="1015663"/>
          </a:xfrm>
          <a:prstGeom prst="rect">
            <a:avLst/>
          </a:prstGeom>
          <a:noFill/>
        </p:spPr>
        <p:txBody>
          <a:bodyPr wrap="square" rtlCol="0">
            <a:spAutoFit/>
          </a:bodyPr>
          <a:lstStyle/>
          <a:p>
            <a:pPr algn="ctr"/>
            <a:r>
              <a:rPr lang="en-GB" sz="2000" dirty="0"/>
              <a:t>purchase agreement § 433 BGB </a:t>
            </a:r>
            <a:br>
              <a:rPr lang="en-GB" sz="2000" dirty="0"/>
            </a:br>
            <a:r>
              <a:rPr lang="en-GB" sz="2000" dirty="0"/>
              <a:t>about </a:t>
            </a:r>
            <a:r>
              <a:rPr lang="en-GB" sz="2000" b="1" dirty="0"/>
              <a:t>wolf</a:t>
            </a:r>
            <a:r>
              <a:rPr lang="en-GB" sz="2000" dirty="0"/>
              <a:t> sculpture </a:t>
            </a:r>
          </a:p>
        </p:txBody>
      </p:sp>
      <p:sp>
        <p:nvSpPr>
          <p:cNvPr id="24"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2455744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Solution – Bullet points</a:t>
            </a:r>
            <a:endParaRPr lang="en-GB" i="1" dirty="0"/>
          </a:p>
        </p:txBody>
      </p:sp>
      <p:sp>
        <p:nvSpPr>
          <p:cNvPr id="3" name="Inhaltsplatzhalter 2"/>
          <p:cNvSpPr>
            <a:spLocks noGrp="1"/>
          </p:cNvSpPr>
          <p:nvPr>
            <p:ph idx="1"/>
          </p:nvPr>
        </p:nvSpPr>
        <p:spPr/>
        <p:txBody>
          <a:bodyPr>
            <a:noAutofit/>
          </a:bodyPr>
          <a:lstStyle/>
          <a:p>
            <a:pPr marL="59436" indent="0">
              <a:buNone/>
            </a:pPr>
            <a:r>
              <a:rPr lang="en-US" sz="2400" b="1" dirty="0">
                <a:solidFill>
                  <a:schemeClr val="tx1"/>
                </a:solidFill>
              </a:rPr>
              <a:t>A. Effective Agency</a:t>
            </a:r>
          </a:p>
          <a:p>
            <a:pPr marL="59436" indent="0">
              <a:buNone/>
            </a:pPr>
            <a:endParaRPr lang="en-US" sz="2400" dirty="0">
              <a:solidFill>
                <a:schemeClr val="tx1"/>
              </a:solidFill>
            </a:endParaRPr>
          </a:p>
          <a:p>
            <a:pPr marL="59436" indent="0">
              <a:buNone/>
            </a:pPr>
            <a:r>
              <a:rPr lang="en-US" sz="2400" b="1" dirty="0">
                <a:solidFill>
                  <a:schemeClr val="tx1"/>
                </a:solidFill>
              </a:rPr>
              <a:t>I. Own </a:t>
            </a:r>
            <a:r>
              <a:rPr lang="en-US" sz="2400" b="1" dirty="0" err="1">
                <a:solidFill>
                  <a:schemeClr val="tx1"/>
                </a:solidFill>
              </a:rPr>
              <a:t>DoI</a:t>
            </a:r>
            <a:r>
              <a:rPr lang="en-US" sz="2400" b="1" dirty="0">
                <a:solidFill>
                  <a:schemeClr val="tx1"/>
                </a:solidFill>
              </a:rPr>
              <a:t> by D (+)</a:t>
            </a:r>
            <a:endParaRPr lang="de-DE" sz="2400" b="1" dirty="0">
              <a:solidFill>
                <a:schemeClr val="tx1"/>
              </a:solidFill>
            </a:endParaRPr>
          </a:p>
          <a:p>
            <a:pPr marL="59436" indent="0">
              <a:buNone/>
            </a:pPr>
            <a:r>
              <a:rPr lang="de-DE" sz="2400" dirty="0">
                <a:solidFill>
                  <a:schemeClr val="tx1"/>
                </a:solidFill>
              </a:rPr>
              <a:t>= „</a:t>
            </a:r>
            <a:r>
              <a:rPr lang="en-US" sz="2400" dirty="0">
                <a:solidFill>
                  <a:schemeClr val="tx1"/>
                </a:solidFill>
              </a:rPr>
              <a:t>declaration of intent which a person makes” § 164 I 1 BGB</a:t>
            </a:r>
          </a:p>
          <a:p>
            <a:pPr marL="402336"/>
            <a:r>
              <a:rPr lang="de-DE" sz="2400" dirty="0">
                <a:solidFill>
                  <a:schemeClr val="tx1"/>
                </a:solidFill>
              </a:rPr>
              <a:t>D </a:t>
            </a:r>
            <a:r>
              <a:rPr lang="en-US" sz="2400" dirty="0">
                <a:solidFill>
                  <a:schemeClr val="tx1"/>
                </a:solidFill>
              </a:rPr>
              <a:t>formed and expressed his own will to conclude a </a:t>
            </a:r>
            <a:br>
              <a:rPr lang="en-US" sz="2400" dirty="0">
                <a:solidFill>
                  <a:schemeClr val="tx1"/>
                </a:solidFill>
              </a:rPr>
            </a:br>
            <a:r>
              <a:rPr lang="en-US" sz="2400" dirty="0">
                <a:solidFill>
                  <a:schemeClr val="tx1"/>
                </a:solidFill>
              </a:rPr>
              <a:t>purchase agreement (§ 433 BGB) about the dog sculpture</a:t>
            </a:r>
          </a:p>
          <a:p>
            <a:pPr marL="402336"/>
            <a:endParaRPr lang="en-US" sz="2400" dirty="0">
              <a:solidFill>
                <a:schemeClr val="tx1"/>
              </a:solidFill>
            </a:endParaRPr>
          </a:p>
          <a:p>
            <a:pPr marL="59436" indent="0">
              <a:buNone/>
            </a:pPr>
            <a:r>
              <a:rPr lang="en-US" sz="2400" b="1" dirty="0">
                <a:solidFill>
                  <a:schemeClr val="tx1"/>
                </a:solidFill>
              </a:rPr>
              <a:t>II. Principle of publicity (+)</a:t>
            </a:r>
            <a:endParaRPr lang="de-DE" sz="2400" b="1" dirty="0">
              <a:solidFill>
                <a:schemeClr val="tx1"/>
              </a:solidFill>
            </a:endParaRPr>
          </a:p>
          <a:p>
            <a:pPr marL="59436" indent="0">
              <a:buNone/>
            </a:pPr>
            <a:r>
              <a:rPr lang="de-DE" sz="2400" dirty="0">
                <a:solidFill>
                  <a:schemeClr val="tx1"/>
                </a:solidFill>
              </a:rPr>
              <a:t>= „</a:t>
            </a:r>
            <a:r>
              <a:rPr lang="en-US" sz="2400" dirty="0">
                <a:solidFill>
                  <a:schemeClr val="tx1"/>
                </a:solidFill>
              </a:rPr>
              <a:t>in the name of a principal“ § 164 I 1 BGB</a:t>
            </a:r>
          </a:p>
          <a:p>
            <a:pPr marL="402336"/>
            <a:r>
              <a:rPr lang="de-DE" sz="2400" dirty="0">
                <a:solidFill>
                  <a:schemeClr val="tx1"/>
                </a:solidFill>
              </a:rPr>
              <a:t>D </a:t>
            </a:r>
            <a:r>
              <a:rPr lang="de-DE" sz="2400" dirty="0" err="1">
                <a:solidFill>
                  <a:schemeClr val="tx1"/>
                </a:solidFill>
              </a:rPr>
              <a:t>explained</a:t>
            </a:r>
            <a:r>
              <a:rPr lang="de-DE" sz="2400" dirty="0">
                <a:solidFill>
                  <a:schemeClr val="tx1"/>
                </a:solidFill>
              </a:rPr>
              <a:t> </a:t>
            </a:r>
            <a:r>
              <a:rPr lang="de-DE" sz="2400" dirty="0" err="1">
                <a:solidFill>
                  <a:schemeClr val="tx1"/>
                </a:solidFill>
              </a:rPr>
              <a:t>the</a:t>
            </a:r>
            <a:r>
              <a:rPr lang="de-DE" sz="2400" dirty="0">
                <a:solidFill>
                  <a:schemeClr val="tx1"/>
                </a:solidFill>
              </a:rPr>
              <a:t> </a:t>
            </a:r>
            <a:r>
              <a:rPr lang="de-DE" sz="2400" dirty="0" err="1">
                <a:solidFill>
                  <a:schemeClr val="tx1"/>
                </a:solidFill>
              </a:rPr>
              <a:t>situation</a:t>
            </a:r>
            <a:r>
              <a:rPr lang="de-DE" sz="2400" dirty="0">
                <a:solidFill>
                  <a:schemeClr val="tx1"/>
                </a:solidFill>
              </a:rPr>
              <a:t> </a:t>
            </a:r>
            <a:r>
              <a:rPr lang="de-DE" sz="2400" dirty="0" err="1">
                <a:solidFill>
                  <a:schemeClr val="tx1"/>
                </a:solidFill>
              </a:rPr>
              <a:t>to</a:t>
            </a:r>
            <a:r>
              <a:rPr lang="de-DE" sz="2400" dirty="0">
                <a:solidFill>
                  <a:schemeClr val="tx1"/>
                </a:solidFill>
              </a:rPr>
              <a:t> A</a:t>
            </a:r>
          </a:p>
          <a:p>
            <a:pPr marL="402336"/>
            <a:r>
              <a:rPr lang="de-DE" sz="2400" dirty="0">
                <a:solidFill>
                  <a:schemeClr val="tx1"/>
                </a:solidFill>
              </a:rPr>
              <a:t>So D must </a:t>
            </a:r>
            <a:r>
              <a:rPr lang="de-DE" sz="2400" dirty="0" err="1">
                <a:solidFill>
                  <a:schemeClr val="tx1"/>
                </a:solidFill>
              </a:rPr>
              <a:t>have</a:t>
            </a:r>
            <a:r>
              <a:rPr lang="de-DE" sz="2400" dirty="0">
                <a:solidFill>
                  <a:schemeClr val="tx1"/>
                </a:solidFill>
              </a:rPr>
              <a:t> </a:t>
            </a:r>
            <a:r>
              <a:rPr lang="de-DE" sz="2400" dirty="0" err="1">
                <a:solidFill>
                  <a:schemeClr val="tx1"/>
                </a:solidFill>
              </a:rPr>
              <a:t>told</a:t>
            </a:r>
            <a:r>
              <a:rPr lang="de-DE" sz="2400" dirty="0">
                <a:solidFill>
                  <a:schemeClr val="tx1"/>
                </a:solidFill>
              </a:rPr>
              <a:t> A </a:t>
            </a:r>
            <a:r>
              <a:rPr lang="de-DE" sz="2400" dirty="0" err="1">
                <a:solidFill>
                  <a:schemeClr val="tx1"/>
                </a:solidFill>
              </a:rPr>
              <a:t>that</a:t>
            </a:r>
            <a:r>
              <a:rPr lang="de-DE" sz="2400" dirty="0">
                <a:solidFill>
                  <a:schemeClr val="tx1"/>
                </a:solidFill>
              </a:rPr>
              <a:t> he was </a:t>
            </a:r>
            <a:r>
              <a:rPr lang="de-DE" sz="2400" dirty="0" err="1">
                <a:solidFill>
                  <a:schemeClr val="tx1"/>
                </a:solidFill>
              </a:rPr>
              <a:t>looking</a:t>
            </a:r>
            <a:r>
              <a:rPr lang="de-DE" sz="2400" dirty="0">
                <a:solidFill>
                  <a:schemeClr val="tx1"/>
                </a:solidFill>
              </a:rPr>
              <a:t> </a:t>
            </a:r>
            <a:r>
              <a:rPr lang="de-DE" sz="2400" dirty="0" err="1">
                <a:solidFill>
                  <a:schemeClr val="tx1"/>
                </a:solidFill>
              </a:rPr>
              <a:t>for</a:t>
            </a:r>
            <a:r>
              <a:rPr lang="de-DE" sz="2400" dirty="0">
                <a:solidFill>
                  <a:schemeClr val="tx1"/>
                </a:solidFill>
              </a:rPr>
              <a:t> a </a:t>
            </a:r>
            <a:r>
              <a:rPr lang="de-DE" sz="2400" dirty="0" err="1">
                <a:solidFill>
                  <a:schemeClr val="tx1"/>
                </a:solidFill>
              </a:rPr>
              <a:t>piece</a:t>
            </a:r>
            <a:r>
              <a:rPr lang="de-DE" sz="2400" dirty="0">
                <a:solidFill>
                  <a:schemeClr val="tx1"/>
                </a:solidFill>
              </a:rPr>
              <a:t> </a:t>
            </a:r>
            <a:r>
              <a:rPr lang="de-DE" sz="2400" dirty="0" err="1">
                <a:solidFill>
                  <a:schemeClr val="tx1"/>
                </a:solidFill>
              </a:rPr>
              <a:t>for</a:t>
            </a:r>
            <a:r>
              <a:rPr lang="de-DE" sz="2400" dirty="0">
                <a:solidFill>
                  <a:schemeClr val="tx1"/>
                </a:solidFill>
              </a:rPr>
              <a:t> </a:t>
            </a:r>
            <a:r>
              <a:rPr lang="de-DE" sz="2400" dirty="0" err="1">
                <a:solidFill>
                  <a:schemeClr val="tx1"/>
                </a:solidFill>
              </a:rPr>
              <a:t>C‘s</a:t>
            </a:r>
            <a:r>
              <a:rPr lang="de-DE" sz="2400" dirty="0">
                <a:solidFill>
                  <a:schemeClr val="tx1"/>
                </a:solidFill>
              </a:rPr>
              <a:t> </a:t>
            </a:r>
            <a:r>
              <a:rPr lang="de-DE" sz="2400" dirty="0" err="1">
                <a:solidFill>
                  <a:schemeClr val="tx1"/>
                </a:solidFill>
              </a:rPr>
              <a:t>collection</a:t>
            </a:r>
            <a:endParaRPr lang="en-US" sz="2400" dirty="0">
              <a:solidFill>
                <a:schemeClr val="tx1"/>
              </a:solidFill>
            </a:endParaRPr>
          </a:p>
          <a:p>
            <a:pPr marL="402336"/>
            <a:endParaRPr lang="de-DE" sz="2400" dirty="0">
              <a:solidFill>
                <a:schemeClr val="tx1"/>
              </a:solidFill>
            </a:endParaRPr>
          </a:p>
        </p:txBody>
      </p:sp>
      <p:sp>
        <p:nvSpPr>
          <p:cNvPr id="6"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223054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Solution – Bullet points</a:t>
            </a:r>
            <a:endParaRPr lang="en-GB" i="1" dirty="0"/>
          </a:p>
        </p:txBody>
      </p:sp>
      <p:sp>
        <p:nvSpPr>
          <p:cNvPr id="3" name="Inhaltsplatzhalter 2"/>
          <p:cNvSpPr>
            <a:spLocks noGrp="1"/>
          </p:cNvSpPr>
          <p:nvPr>
            <p:ph idx="1"/>
          </p:nvPr>
        </p:nvSpPr>
        <p:spPr/>
        <p:txBody>
          <a:bodyPr>
            <a:normAutofit fontScale="85000" lnSpcReduction="20000"/>
          </a:bodyPr>
          <a:lstStyle/>
          <a:p>
            <a:pPr marL="59436" indent="0">
              <a:buNone/>
            </a:pPr>
            <a:r>
              <a:rPr lang="de-DE" b="1" dirty="0">
                <a:solidFill>
                  <a:schemeClr val="tx1"/>
                </a:solidFill>
              </a:rPr>
              <a:t>III. </a:t>
            </a:r>
            <a:r>
              <a:rPr lang="en-US" b="1" dirty="0">
                <a:solidFill>
                  <a:schemeClr val="tx1"/>
                </a:solidFill>
              </a:rPr>
              <a:t>Power of representation § 164 I 1 BGB (+)</a:t>
            </a:r>
            <a:endParaRPr lang="de-DE" b="1" dirty="0">
              <a:solidFill>
                <a:schemeClr val="tx1"/>
              </a:solidFill>
            </a:endParaRPr>
          </a:p>
          <a:p>
            <a:pPr marL="59436" indent="0">
              <a:buNone/>
            </a:pPr>
            <a:endParaRPr lang="en-US" sz="400" dirty="0">
              <a:solidFill>
                <a:schemeClr val="tx1"/>
              </a:solidFill>
            </a:endParaRPr>
          </a:p>
          <a:p>
            <a:pPr marL="59436" indent="0">
              <a:buNone/>
            </a:pPr>
            <a:r>
              <a:rPr lang="en-US" b="1" dirty="0">
                <a:solidFill>
                  <a:schemeClr val="tx1"/>
                </a:solidFill>
              </a:rPr>
              <a:t>1. Conferment of the power of representation (+)</a:t>
            </a:r>
          </a:p>
          <a:p>
            <a:pPr marL="59436" indent="0">
              <a:buNone/>
            </a:pPr>
            <a:r>
              <a:rPr lang="en-US" dirty="0">
                <a:solidFill>
                  <a:schemeClr val="tx1"/>
                </a:solidFill>
              </a:rPr>
              <a:t>= Authority is conferred by declaration to the person to be granted authority, or to the third party in relation to whom the authority is to have effect (§ 167 I BGB)</a:t>
            </a:r>
          </a:p>
          <a:p>
            <a:pPr marL="59436" indent="0">
              <a:buNone/>
            </a:pPr>
            <a:endParaRPr lang="en-US" sz="400" dirty="0">
              <a:solidFill>
                <a:schemeClr val="tx1"/>
              </a:solidFill>
            </a:endParaRPr>
          </a:p>
          <a:p>
            <a:pPr marL="59436" indent="0">
              <a:buNone/>
            </a:pPr>
            <a:r>
              <a:rPr lang="en-US" b="1" dirty="0">
                <a:solidFill>
                  <a:schemeClr val="tx1"/>
                </a:solidFill>
              </a:rPr>
              <a:t>a) To agent himself (internal </a:t>
            </a:r>
            <a:r>
              <a:rPr lang="en-US" b="1" dirty="0" err="1">
                <a:solidFill>
                  <a:schemeClr val="tx1"/>
                </a:solidFill>
              </a:rPr>
              <a:t>authorisation</a:t>
            </a:r>
            <a:r>
              <a:rPr lang="en-US" b="1" dirty="0">
                <a:solidFill>
                  <a:schemeClr val="tx1"/>
                </a:solidFill>
              </a:rPr>
              <a:t>) (+)</a:t>
            </a:r>
          </a:p>
          <a:p>
            <a:pPr marL="516636" indent="-457200"/>
            <a:r>
              <a:rPr lang="en-US" dirty="0">
                <a:solidFill>
                  <a:schemeClr val="tx1"/>
                </a:solidFill>
              </a:rPr>
              <a:t>D worked as an art dealer for C</a:t>
            </a:r>
          </a:p>
          <a:p>
            <a:pPr marL="516636" indent="-457200"/>
            <a:r>
              <a:rPr lang="en-US" dirty="0">
                <a:solidFill>
                  <a:schemeClr val="tx1"/>
                </a:solidFill>
              </a:rPr>
              <a:t>C told D that he should buy the wolf sculpture for her</a:t>
            </a:r>
          </a:p>
          <a:p>
            <a:pPr marL="59436" indent="0">
              <a:buNone/>
            </a:pPr>
            <a:endParaRPr lang="en-US" sz="400" dirty="0">
              <a:solidFill>
                <a:schemeClr val="tx1"/>
              </a:solidFill>
            </a:endParaRPr>
          </a:p>
          <a:p>
            <a:pPr marL="59436" indent="0">
              <a:buNone/>
            </a:pPr>
            <a:r>
              <a:rPr lang="en-US" b="1" dirty="0">
                <a:solidFill>
                  <a:schemeClr val="tx1"/>
                </a:solidFill>
              </a:rPr>
              <a:t>b) To third party (external </a:t>
            </a:r>
            <a:r>
              <a:rPr lang="en-US" b="1" dirty="0" err="1">
                <a:solidFill>
                  <a:schemeClr val="tx1"/>
                </a:solidFill>
              </a:rPr>
              <a:t>authorisation</a:t>
            </a:r>
            <a:r>
              <a:rPr lang="en-US" b="1" dirty="0">
                <a:solidFill>
                  <a:schemeClr val="tx1"/>
                </a:solidFill>
              </a:rPr>
              <a:t>) (-)</a:t>
            </a:r>
          </a:p>
          <a:p>
            <a:pPr marL="516636" indent="-457200"/>
            <a:r>
              <a:rPr lang="de-DE" dirty="0">
                <a:solidFill>
                  <a:schemeClr val="tx1"/>
                </a:solidFill>
              </a:rPr>
              <a:t>D </a:t>
            </a:r>
            <a:r>
              <a:rPr lang="de-DE" dirty="0" err="1">
                <a:solidFill>
                  <a:schemeClr val="tx1"/>
                </a:solidFill>
              </a:rPr>
              <a:t>explained</a:t>
            </a:r>
            <a:r>
              <a:rPr lang="de-DE" dirty="0">
                <a:solidFill>
                  <a:schemeClr val="tx1"/>
                </a:solidFill>
              </a:rPr>
              <a:t> </a:t>
            </a:r>
            <a:r>
              <a:rPr lang="de-DE" dirty="0" err="1">
                <a:solidFill>
                  <a:schemeClr val="tx1"/>
                </a:solidFill>
              </a:rPr>
              <a:t>the</a:t>
            </a:r>
            <a:r>
              <a:rPr lang="de-DE" dirty="0">
                <a:solidFill>
                  <a:schemeClr val="tx1"/>
                </a:solidFill>
              </a:rPr>
              <a:t> </a:t>
            </a:r>
            <a:r>
              <a:rPr lang="de-DE" dirty="0" err="1">
                <a:solidFill>
                  <a:schemeClr val="tx1"/>
                </a:solidFill>
              </a:rPr>
              <a:t>situation</a:t>
            </a:r>
            <a:r>
              <a:rPr lang="de-DE" dirty="0">
                <a:solidFill>
                  <a:schemeClr val="tx1"/>
                </a:solidFill>
              </a:rPr>
              <a:t> </a:t>
            </a:r>
            <a:r>
              <a:rPr lang="de-DE" dirty="0" err="1">
                <a:solidFill>
                  <a:schemeClr val="tx1"/>
                </a:solidFill>
              </a:rPr>
              <a:t>to</a:t>
            </a:r>
            <a:r>
              <a:rPr lang="de-DE" dirty="0">
                <a:solidFill>
                  <a:schemeClr val="tx1"/>
                </a:solidFill>
              </a:rPr>
              <a:t> A</a:t>
            </a:r>
          </a:p>
          <a:p>
            <a:pPr marL="516636" indent="-457200"/>
            <a:r>
              <a:rPr lang="de-DE" dirty="0" err="1">
                <a:solidFill>
                  <a:schemeClr val="tx1"/>
                </a:solidFill>
              </a:rPr>
              <a:t>However</a:t>
            </a:r>
            <a:r>
              <a:rPr lang="de-DE" dirty="0">
                <a:solidFill>
                  <a:schemeClr val="tx1"/>
                </a:solidFill>
              </a:rPr>
              <a:t> </a:t>
            </a:r>
            <a:r>
              <a:rPr lang="de-DE" dirty="0" err="1">
                <a:solidFill>
                  <a:schemeClr val="tx1"/>
                </a:solidFill>
              </a:rPr>
              <a:t>it</a:t>
            </a:r>
            <a:r>
              <a:rPr lang="de-DE" dirty="0">
                <a:solidFill>
                  <a:schemeClr val="tx1"/>
                </a:solidFill>
              </a:rPr>
              <a:t> </a:t>
            </a:r>
            <a:r>
              <a:rPr lang="de-DE" dirty="0" err="1">
                <a:solidFill>
                  <a:schemeClr val="tx1"/>
                </a:solidFill>
              </a:rPr>
              <a:t>is</a:t>
            </a:r>
            <a:r>
              <a:rPr lang="de-DE" dirty="0">
                <a:solidFill>
                  <a:schemeClr val="tx1"/>
                </a:solidFill>
              </a:rPr>
              <a:t> not </a:t>
            </a:r>
            <a:r>
              <a:rPr lang="de-DE" dirty="0" err="1">
                <a:solidFill>
                  <a:schemeClr val="tx1"/>
                </a:solidFill>
              </a:rPr>
              <a:t>sure</a:t>
            </a:r>
            <a:r>
              <a:rPr lang="de-DE" dirty="0">
                <a:solidFill>
                  <a:schemeClr val="tx1"/>
                </a:solidFill>
              </a:rPr>
              <a:t> </a:t>
            </a:r>
            <a:r>
              <a:rPr lang="de-DE" dirty="0" err="1">
                <a:solidFill>
                  <a:schemeClr val="tx1"/>
                </a:solidFill>
              </a:rPr>
              <a:t>whether</a:t>
            </a:r>
            <a:r>
              <a:rPr lang="de-DE" dirty="0">
                <a:solidFill>
                  <a:schemeClr val="tx1"/>
                </a:solidFill>
              </a:rPr>
              <a:t> C </a:t>
            </a:r>
            <a:r>
              <a:rPr lang="de-DE" dirty="0" err="1">
                <a:solidFill>
                  <a:schemeClr val="tx1"/>
                </a:solidFill>
              </a:rPr>
              <a:t>actively</a:t>
            </a:r>
            <a:r>
              <a:rPr lang="de-DE" dirty="0">
                <a:solidFill>
                  <a:schemeClr val="tx1"/>
                </a:solidFill>
              </a:rPr>
              <a:t> </a:t>
            </a:r>
            <a:r>
              <a:rPr lang="de-DE" dirty="0" err="1">
                <a:solidFill>
                  <a:schemeClr val="tx1"/>
                </a:solidFill>
              </a:rPr>
              <a:t>informed</a:t>
            </a:r>
            <a:r>
              <a:rPr lang="de-DE" dirty="0">
                <a:solidFill>
                  <a:schemeClr val="tx1"/>
                </a:solidFill>
              </a:rPr>
              <a:t> A</a:t>
            </a:r>
          </a:p>
          <a:p>
            <a:pPr marL="59436" indent="0">
              <a:buNone/>
            </a:pPr>
            <a:endParaRPr lang="de-DE" sz="500" dirty="0">
              <a:solidFill>
                <a:schemeClr val="tx1"/>
              </a:solidFill>
            </a:endParaRPr>
          </a:p>
          <a:p>
            <a:pPr marL="59436" indent="0">
              <a:buNone/>
            </a:pPr>
            <a:r>
              <a:rPr lang="de-DE" b="1" dirty="0">
                <a:solidFill>
                  <a:schemeClr val="tx1"/>
                </a:solidFill>
              </a:rPr>
              <a:t>c) Interim </a:t>
            </a:r>
            <a:r>
              <a:rPr lang="de-DE" b="1" dirty="0" err="1">
                <a:solidFill>
                  <a:schemeClr val="tx1"/>
                </a:solidFill>
              </a:rPr>
              <a:t>result</a:t>
            </a:r>
            <a:r>
              <a:rPr lang="de-DE" b="1" dirty="0">
                <a:solidFill>
                  <a:schemeClr val="tx1"/>
                </a:solidFill>
              </a:rPr>
              <a:t>: </a:t>
            </a:r>
            <a:r>
              <a:rPr lang="de-DE" dirty="0">
                <a:solidFill>
                  <a:schemeClr val="tx1"/>
                </a:solidFill>
              </a:rPr>
              <a:t>At </a:t>
            </a:r>
            <a:r>
              <a:rPr lang="de-DE" dirty="0" err="1">
                <a:solidFill>
                  <a:schemeClr val="tx1"/>
                </a:solidFill>
              </a:rPr>
              <a:t>any</a:t>
            </a:r>
            <a:r>
              <a:rPr lang="de-DE" dirty="0">
                <a:solidFill>
                  <a:schemeClr val="tx1"/>
                </a:solidFill>
              </a:rPr>
              <a:t> rate internal </a:t>
            </a:r>
            <a:r>
              <a:rPr lang="de-DE" dirty="0" err="1">
                <a:solidFill>
                  <a:schemeClr val="tx1"/>
                </a:solidFill>
              </a:rPr>
              <a:t>authorisation</a:t>
            </a:r>
            <a:r>
              <a:rPr lang="de-DE" dirty="0">
                <a:solidFill>
                  <a:schemeClr val="tx1"/>
                </a:solidFill>
              </a:rPr>
              <a:t> </a:t>
            </a:r>
            <a:r>
              <a:rPr lang="de-DE" dirty="0" err="1">
                <a:solidFill>
                  <a:schemeClr val="tx1"/>
                </a:solidFill>
              </a:rPr>
              <a:t>given</a:t>
            </a:r>
            <a:endParaRPr lang="en-US" dirty="0">
              <a:solidFill>
                <a:schemeClr val="tx1"/>
              </a:solidFill>
            </a:endParaRPr>
          </a:p>
          <a:p>
            <a:pPr marL="0" indent="0">
              <a:buNone/>
            </a:pPr>
            <a:endParaRPr lang="de-DE" dirty="0">
              <a:solidFill>
                <a:schemeClr val="tx1"/>
              </a:solidFill>
            </a:endParaRPr>
          </a:p>
        </p:txBody>
      </p:sp>
      <p:sp>
        <p:nvSpPr>
          <p:cNvPr id="5"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348837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Solution – Bullet points</a:t>
            </a:r>
            <a:endParaRPr lang="en-GB" i="1" dirty="0"/>
          </a:p>
        </p:txBody>
      </p:sp>
      <p:sp>
        <p:nvSpPr>
          <p:cNvPr id="3" name="Inhaltsplatzhalter 2"/>
          <p:cNvSpPr>
            <a:spLocks noGrp="1"/>
          </p:cNvSpPr>
          <p:nvPr>
            <p:ph idx="1"/>
          </p:nvPr>
        </p:nvSpPr>
        <p:spPr/>
        <p:txBody>
          <a:bodyPr>
            <a:normAutofit/>
          </a:bodyPr>
          <a:lstStyle/>
          <a:p>
            <a:pPr marL="59436" indent="0">
              <a:buNone/>
            </a:pPr>
            <a:r>
              <a:rPr lang="en-US" b="1" dirty="0">
                <a:solidFill>
                  <a:schemeClr val="tx1"/>
                </a:solidFill>
              </a:rPr>
              <a:t>2. D acting within the scope of power of representation (-)</a:t>
            </a:r>
            <a:endParaRPr lang="en-US" dirty="0">
              <a:solidFill>
                <a:schemeClr val="tx1"/>
              </a:solidFill>
            </a:endParaRPr>
          </a:p>
        </p:txBody>
      </p:sp>
      <p:graphicFrame>
        <p:nvGraphicFramePr>
          <p:cNvPr id="5" name="Tabelle 4"/>
          <p:cNvGraphicFramePr>
            <a:graphicFrameLocks noGrp="1"/>
          </p:cNvGraphicFramePr>
          <p:nvPr>
            <p:extLst>
              <p:ext uri="{D42A27DB-BD31-4B8C-83A1-F6EECF244321}">
                <p14:modId xmlns:p14="http://schemas.microsoft.com/office/powerpoint/2010/main" val="2432730192"/>
              </p:ext>
            </p:extLst>
          </p:nvPr>
        </p:nvGraphicFramePr>
        <p:xfrm>
          <a:off x="1038332" y="2073563"/>
          <a:ext cx="9791702" cy="3470455"/>
        </p:xfrm>
        <a:graphic>
          <a:graphicData uri="http://schemas.openxmlformats.org/drawingml/2006/table">
            <a:tbl>
              <a:tblPr firstRow="1" bandRow="1">
                <a:tableStyleId>{5C22544A-7EE6-4342-B048-85BDC9FD1C3A}</a:tableStyleId>
              </a:tblPr>
              <a:tblGrid>
                <a:gridCol w="4895851">
                  <a:extLst>
                    <a:ext uri="{9D8B030D-6E8A-4147-A177-3AD203B41FA5}">
                      <a16:colId xmlns:a16="http://schemas.microsoft.com/office/drawing/2014/main" val="1764222701"/>
                    </a:ext>
                  </a:extLst>
                </a:gridCol>
                <a:gridCol w="4895851">
                  <a:extLst>
                    <a:ext uri="{9D8B030D-6E8A-4147-A177-3AD203B41FA5}">
                      <a16:colId xmlns:a16="http://schemas.microsoft.com/office/drawing/2014/main" val="4135947899"/>
                    </a:ext>
                  </a:extLst>
                </a:gridCol>
              </a:tblGrid>
              <a:tr h="338777">
                <a:tc>
                  <a:txBody>
                    <a:bodyPr/>
                    <a:lstStyle/>
                    <a:p>
                      <a:r>
                        <a:rPr lang="de-DE" sz="2000" dirty="0">
                          <a:latin typeface="Georgia" panose="02040502050405020303" pitchFamily="18" charset="0"/>
                        </a:rPr>
                        <a:t>Pro</a:t>
                      </a:r>
                    </a:p>
                  </a:txBody>
                  <a:tcPr/>
                </a:tc>
                <a:tc>
                  <a:txBody>
                    <a:bodyPr/>
                    <a:lstStyle/>
                    <a:p>
                      <a:r>
                        <a:rPr lang="de-DE" sz="2000" dirty="0">
                          <a:latin typeface="Georgia" panose="02040502050405020303" pitchFamily="18" charset="0"/>
                        </a:rPr>
                        <a:t>Contra</a:t>
                      </a:r>
                    </a:p>
                  </a:txBody>
                  <a:tcPr/>
                </a:tc>
                <a:extLst>
                  <a:ext uri="{0D108BD9-81ED-4DB2-BD59-A6C34878D82A}">
                    <a16:rowId xmlns:a16="http://schemas.microsoft.com/office/drawing/2014/main" val="289092253"/>
                  </a:ext>
                </a:extLst>
              </a:tr>
              <a:tr h="1120571">
                <a:tc>
                  <a:txBody>
                    <a:bodyPr/>
                    <a:lstStyle/>
                    <a:p>
                      <a:r>
                        <a:rPr lang="en-US" sz="2000" dirty="0">
                          <a:solidFill>
                            <a:schemeClr val="tx1"/>
                          </a:solidFill>
                          <a:latin typeface="Georgia" panose="02040502050405020303" pitchFamily="18" charset="0"/>
                        </a:rPr>
                        <a:t>D bought a hunting dog sculpture also of bronze that is very close to the desired sculpture and will fit in well with C's collection</a:t>
                      </a:r>
                      <a:endParaRPr lang="de-DE" sz="2000" dirty="0">
                        <a:solidFill>
                          <a:schemeClr val="tx1"/>
                        </a:solidFill>
                        <a:latin typeface="Georgia" panose="02040502050405020303" pitchFamily="18" charset="0"/>
                      </a:endParaRPr>
                    </a:p>
                  </a:txBody>
                  <a:tcPr/>
                </a:tc>
                <a:tc>
                  <a:txBody>
                    <a:bodyPr/>
                    <a:lstStyle/>
                    <a:p>
                      <a:r>
                        <a:rPr lang="de-DE" sz="2000" dirty="0">
                          <a:solidFill>
                            <a:schemeClr val="tx1"/>
                          </a:solidFill>
                          <a:latin typeface="Georgia" panose="02040502050405020303" pitchFamily="18" charset="0"/>
                        </a:rPr>
                        <a:t>D </a:t>
                      </a:r>
                      <a:r>
                        <a:rPr lang="de-DE" sz="2000" dirty="0" err="1">
                          <a:solidFill>
                            <a:schemeClr val="tx1"/>
                          </a:solidFill>
                          <a:latin typeface="Georgia" panose="02040502050405020303" pitchFamily="18" charset="0"/>
                        </a:rPr>
                        <a:t>did</a:t>
                      </a:r>
                      <a:r>
                        <a:rPr lang="de-DE" sz="2000" dirty="0">
                          <a:solidFill>
                            <a:schemeClr val="tx1"/>
                          </a:solidFill>
                          <a:latin typeface="Georgia" panose="02040502050405020303" pitchFamily="18" charset="0"/>
                        </a:rPr>
                        <a:t> not </a:t>
                      </a:r>
                      <a:r>
                        <a:rPr lang="de-DE" sz="2000" dirty="0" err="1">
                          <a:solidFill>
                            <a:schemeClr val="tx1"/>
                          </a:solidFill>
                          <a:latin typeface="Georgia" panose="02040502050405020303" pitchFamily="18" charset="0"/>
                        </a:rPr>
                        <a:t>buy</a:t>
                      </a:r>
                      <a:r>
                        <a:rPr lang="de-DE" sz="2000" dirty="0">
                          <a:solidFill>
                            <a:schemeClr val="tx1"/>
                          </a:solidFill>
                          <a:latin typeface="Georgia" panose="02040502050405020303" pitchFamily="18" charset="0"/>
                        </a:rPr>
                        <a:t> </a:t>
                      </a:r>
                      <a:r>
                        <a:rPr lang="de-DE" sz="2000" dirty="0" err="1">
                          <a:solidFill>
                            <a:schemeClr val="tx1"/>
                          </a:solidFill>
                          <a:latin typeface="Georgia" panose="02040502050405020303" pitchFamily="18" charset="0"/>
                        </a:rPr>
                        <a:t>the</a:t>
                      </a:r>
                      <a:r>
                        <a:rPr lang="de-DE" sz="2000" dirty="0">
                          <a:solidFill>
                            <a:schemeClr val="tx1"/>
                          </a:solidFill>
                          <a:latin typeface="Georgia" panose="02040502050405020303" pitchFamily="18" charset="0"/>
                        </a:rPr>
                        <a:t> </a:t>
                      </a:r>
                      <a:r>
                        <a:rPr lang="de-DE" sz="2000" dirty="0" err="1">
                          <a:solidFill>
                            <a:schemeClr val="tx1"/>
                          </a:solidFill>
                          <a:latin typeface="Georgia" panose="02040502050405020303" pitchFamily="18" charset="0"/>
                        </a:rPr>
                        <a:t>wolf</a:t>
                      </a:r>
                      <a:r>
                        <a:rPr lang="de-DE" sz="2000" dirty="0">
                          <a:solidFill>
                            <a:schemeClr val="tx1"/>
                          </a:solidFill>
                          <a:latin typeface="Georgia" panose="02040502050405020303" pitchFamily="18" charset="0"/>
                        </a:rPr>
                        <a:t> </a:t>
                      </a:r>
                      <a:r>
                        <a:rPr lang="de-DE" sz="2000" dirty="0" err="1">
                          <a:solidFill>
                            <a:schemeClr val="tx1"/>
                          </a:solidFill>
                          <a:latin typeface="Georgia" panose="02040502050405020303" pitchFamily="18" charset="0"/>
                        </a:rPr>
                        <a:t>sculpture</a:t>
                      </a:r>
                      <a:endParaRPr lang="de-DE" sz="2000" dirty="0">
                        <a:solidFill>
                          <a:schemeClr val="tx1"/>
                        </a:solidFill>
                        <a:latin typeface="Georgia" panose="02040502050405020303" pitchFamily="18" charset="0"/>
                      </a:endParaRPr>
                    </a:p>
                  </a:txBody>
                  <a:tcPr/>
                </a:tc>
                <a:extLst>
                  <a:ext uri="{0D108BD9-81ED-4DB2-BD59-A6C34878D82A}">
                    <a16:rowId xmlns:a16="http://schemas.microsoft.com/office/drawing/2014/main" val="3547980505"/>
                  </a:ext>
                </a:extLst>
              </a:tr>
              <a:tr h="757735">
                <a:tc>
                  <a:txBody>
                    <a:bodyPr/>
                    <a:lstStyle/>
                    <a:p>
                      <a:r>
                        <a:rPr lang="de-DE" sz="2000" baseline="0" dirty="0">
                          <a:solidFill>
                            <a:schemeClr val="tx1"/>
                          </a:solidFill>
                          <a:latin typeface="Georgia" panose="02040502050405020303" pitchFamily="18" charset="0"/>
                        </a:rPr>
                        <a:t>C </a:t>
                      </a:r>
                      <a:r>
                        <a:rPr lang="de-DE" sz="2000" baseline="0" dirty="0" err="1">
                          <a:solidFill>
                            <a:schemeClr val="tx1"/>
                          </a:solidFill>
                          <a:latin typeface="Georgia" panose="02040502050405020303" pitchFamily="18" charset="0"/>
                        </a:rPr>
                        <a:t>seems</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to</a:t>
                      </a:r>
                      <a:r>
                        <a:rPr lang="de-DE" sz="2000" baseline="0" dirty="0">
                          <a:solidFill>
                            <a:schemeClr val="tx1"/>
                          </a:solidFill>
                          <a:latin typeface="Georgia" panose="02040502050405020303" pitchFamily="18" charset="0"/>
                        </a:rPr>
                        <a:t> like </a:t>
                      </a:r>
                      <a:r>
                        <a:rPr lang="de-DE" sz="2000" baseline="0" dirty="0" err="1">
                          <a:solidFill>
                            <a:schemeClr val="tx1"/>
                          </a:solidFill>
                          <a:latin typeface="Georgia" panose="02040502050405020303" pitchFamily="18" charset="0"/>
                        </a:rPr>
                        <a:t>the</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sculpture</a:t>
                      </a:r>
                      <a:endParaRPr lang="de-DE" sz="2000" dirty="0">
                        <a:solidFill>
                          <a:schemeClr val="tx1"/>
                        </a:solidFill>
                        <a:latin typeface="Georgia" panose="02040502050405020303"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2000" dirty="0">
                          <a:solidFill>
                            <a:schemeClr val="tx1"/>
                          </a:solidFill>
                          <a:latin typeface="Georgia" panose="02040502050405020303" pitchFamily="18" charset="0"/>
                        </a:rPr>
                        <a:t>C still</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has</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the</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option</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to</a:t>
                      </a:r>
                      <a:r>
                        <a:rPr lang="de-DE" sz="2000" baseline="0" dirty="0">
                          <a:solidFill>
                            <a:schemeClr val="tx1"/>
                          </a:solidFill>
                          <a:latin typeface="Georgia" panose="02040502050405020303" pitchFamily="18" charset="0"/>
                        </a:rPr>
                        <a:t> </a:t>
                      </a:r>
                      <a:r>
                        <a:rPr lang="de-DE" sz="2000" dirty="0" err="1">
                          <a:solidFill>
                            <a:schemeClr val="tx1"/>
                          </a:solidFill>
                          <a:latin typeface="Georgia" panose="02040502050405020303" pitchFamily="18" charset="0"/>
                        </a:rPr>
                        <a:t>approve</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D‘s</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declaration</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of</a:t>
                      </a:r>
                      <a:r>
                        <a:rPr lang="de-DE" sz="2000" baseline="0" dirty="0">
                          <a:solidFill>
                            <a:schemeClr val="tx1"/>
                          </a:solidFill>
                          <a:latin typeface="Georgia" panose="02040502050405020303" pitchFamily="18" charset="0"/>
                        </a:rPr>
                        <a:t> </a:t>
                      </a:r>
                      <a:r>
                        <a:rPr lang="de-DE" sz="2000" baseline="0" dirty="0" err="1">
                          <a:solidFill>
                            <a:schemeClr val="tx1"/>
                          </a:solidFill>
                          <a:latin typeface="Georgia" panose="02040502050405020303" pitchFamily="18" charset="0"/>
                        </a:rPr>
                        <a:t>intent</a:t>
                      </a:r>
                      <a:r>
                        <a:rPr lang="de-DE" sz="2000" baseline="0" dirty="0">
                          <a:solidFill>
                            <a:schemeClr val="tx1"/>
                          </a:solidFill>
                          <a:latin typeface="Georgia" panose="02040502050405020303" pitchFamily="18" charset="0"/>
                        </a:rPr>
                        <a:t> (§ 177 I BGB)</a:t>
                      </a:r>
                      <a:endParaRPr lang="de-DE" sz="2000" dirty="0">
                        <a:solidFill>
                          <a:schemeClr val="tx1"/>
                        </a:solidFill>
                        <a:latin typeface="Georgia" panose="02040502050405020303" pitchFamily="18" charset="0"/>
                      </a:endParaRPr>
                    </a:p>
                  </a:txBody>
                  <a:tcPr/>
                </a:tc>
                <a:extLst>
                  <a:ext uri="{0D108BD9-81ED-4DB2-BD59-A6C34878D82A}">
                    <a16:rowId xmlns:a16="http://schemas.microsoft.com/office/drawing/2014/main" val="1985202504"/>
                  </a:ext>
                </a:extLst>
              </a:tr>
              <a:tr h="757735">
                <a:tc gridSpan="2">
                  <a:txBody>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2000" dirty="0">
                          <a:solidFill>
                            <a:schemeClr val="tx1"/>
                          </a:solidFill>
                          <a:latin typeface="Georgia" panose="02040502050405020303" pitchFamily="18" charset="0"/>
                          <a:sym typeface="Wingdings" panose="05000000000000000000" pitchFamily="2" charset="2"/>
                        </a:rPr>
                        <a:t>D’s instructions</a:t>
                      </a:r>
                      <a:r>
                        <a:rPr lang="en-US" sz="2000" baseline="0" dirty="0">
                          <a:solidFill>
                            <a:schemeClr val="tx1"/>
                          </a:solidFill>
                          <a:latin typeface="Georgia" panose="02040502050405020303" pitchFamily="18" charset="0"/>
                          <a:sym typeface="Wingdings" panose="05000000000000000000" pitchFamily="2" charset="2"/>
                        </a:rPr>
                        <a:t> were clear</a:t>
                      </a:r>
                      <a:endParaRPr lang="en-US" sz="2000" dirty="0">
                        <a:solidFill>
                          <a:schemeClr val="tx1"/>
                        </a:solidFill>
                        <a:latin typeface="Georgia" panose="02040502050405020303" pitchFamily="18" charset="0"/>
                        <a:sym typeface="Wingdings" panose="05000000000000000000" pitchFamily="2" charset="2"/>
                      </a:endParaRPr>
                    </a:p>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2000" dirty="0">
                          <a:solidFill>
                            <a:schemeClr val="tx1"/>
                          </a:solidFill>
                          <a:latin typeface="Georgia" panose="02040502050405020303" pitchFamily="18" charset="0"/>
                          <a:sym typeface="Wingdings" panose="05000000000000000000" pitchFamily="2" charset="2"/>
                        </a:rPr>
                        <a:t>It is more reasonable to assume that D did not act within the authority to leave C the option to approve</a:t>
                      </a:r>
                      <a:endParaRPr lang="de-DE" sz="2000" dirty="0">
                        <a:solidFill>
                          <a:schemeClr val="tx1"/>
                        </a:solidFill>
                        <a:latin typeface="Georgia" panose="02040502050405020303" pitchFamily="18" charset="0"/>
                      </a:endParaRPr>
                    </a:p>
                  </a:txBody>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de-DE" sz="2000" dirty="0">
                        <a:solidFill>
                          <a:schemeClr val="tx1"/>
                        </a:solidFill>
                        <a:latin typeface="Georgia" panose="02040502050405020303" pitchFamily="18" charset="0"/>
                      </a:endParaRPr>
                    </a:p>
                  </a:txBody>
                  <a:tcPr/>
                </a:tc>
                <a:extLst>
                  <a:ext uri="{0D108BD9-81ED-4DB2-BD59-A6C34878D82A}">
                    <a16:rowId xmlns:a16="http://schemas.microsoft.com/office/drawing/2014/main" val="1511962191"/>
                  </a:ext>
                </a:extLst>
              </a:tr>
            </a:tbl>
          </a:graphicData>
        </a:graphic>
      </p:graphicFrame>
      <p:sp>
        <p:nvSpPr>
          <p:cNvPr id="6"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906850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Solution – Bullet points</a:t>
            </a:r>
            <a:endParaRPr lang="en-GB" i="1" dirty="0"/>
          </a:p>
        </p:txBody>
      </p:sp>
      <p:sp>
        <p:nvSpPr>
          <p:cNvPr id="3" name="Inhaltsplatzhalter 2"/>
          <p:cNvSpPr>
            <a:spLocks noGrp="1"/>
          </p:cNvSpPr>
          <p:nvPr>
            <p:ph idx="1"/>
          </p:nvPr>
        </p:nvSpPr>
        <p:spPr/>
        <p:txBody>
          <a:bodyPr>
            <a:normAutofit/>
          </a:bodyPr>
          <a:lstStyle/>
          <a:p>
            <a:pPr marL="0" indent="0">
              <a:buNone/>
            </a:pPr>
            <a:r>
              <a:rPr lang="en-US" b="1" dirty="0">
                <a:solidFill>
                  <a:schemeClr val="tx1"/>
                </a:solidFill>
              </a:rPr>
              <a:t>3. Ratification by C § 177 I BGB (+)</a:t>
            </a:r>
          </a:p>
          <a:p>
            <a:pPr marL="0" indent="0">
              <a:buNone/>
            </a:pPr>
            <a:r>
              <a:rPr lang="en-US" dirty="0">
                <a:solidFill>
                  <a:schemeClr val="tx1"/>
                </a:solidFill>
                <a:sym typeface="Wingdings" panose="05000000000000000000" pitchFamily="2" charset="2"/>
              </a:rPr>
              <a:t> </a:t>
            </a:r>
            <a:r>
              <a:rPr lang="en-US" dirty="0">
                <a:solidFill>
                  <a:schemeClr val="tx1"/>
                </a:solidFill>
              </a:rPr>
              <a:t>Without power of representation, the </a:t>
            </a:r>
            <a:r>
              <a:rPr lang="en-US" dirty="0" err="1">
                <a:solidFill>
                  <a:schemeClr val="tx1"/>
                </a:solidFill>
              </a:rPr>
              <a:t>DoI</a:t>
            </a:r>
            <a:r>
              <a:rPr lang="en-US" dirty="0">
                <a:solidFill>
                  <a:schemeClr val="tx1"/>
                </a:solidFill>
              </a:rPr>
              <a:t> is </a:t>
            </a:r>
            <a:r>
              <a:rPr lang="de-DE" dirty="0" err="1">
                <a:solidFill>
                  <a:schemeClr val="tx1"/>
                </a:solidFill>
              </a:rPr>
              <a:t>pending</a:t>
            </a:r>
            <a:r>
              <a:rPr lang="de-DE" dirty="0">
                <a:solidFill>
                  <a:schemeClr val="tx1"/>
                </a:solidFill>
              </a:rPr>
              <a:t> invalid</a:t>
            </a:r>
          </a:p>
          <a:p>
            <a:r>
              <a:rPr lang="en-US" dirty="0">
                <a:solidFill>
                  <a:schemeClr val="tx1"/>
                </a:solidFill>
              </a:rPr>
              <a:t>C was surprised by the purchase of the dog sculpture</a:t>
            </a:r>
          </a:p>
          <a:p>
            <a:r>
              <a:rPr lang="en-US" dirty="0">
                <a:solidFill>
                  <a:schemeClr val="tx1"/>
                </a:solidFill>
              </a:rPr>
              <a:t>However by not raising objections and setting up the sculpture, C implicitly ratified D’s </a:t>
            </a:r>
            <a:r>
              <a:rPr lang="en-US" dirty="0" err="1">
                <a:solidFill>
                  <a:schemeClr val="tx1"/>
                </a:solidFill>
              </a:rPr>
              <a:t>DoI</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4. Interim result: </a:t>
            </a:r>
            <a:r>
              <a:rPr lang="en-US" dirty="0">
                <a:solidFill>
                  <a:schemeClr val="tx1"/>
                </a:solidFill>
              </a:rPr>
              <a:t>Power of representation (-), but ratification (+)</a:t>
            </a:r>
          </a:p>
          <a:p>
            <a:pPr marL="0" indent="0">
              <a:buNone/>
            </a:pPr>
            <a:endParaRPr lang="en-US" dirty="0">
              <a:solidFill>
                <a:schemeClr val="tx1"/>
              </a:solidFill>
            </a:endParaRPr>
          </a:p>
          <a:p>
            <a:pPr marL="0" indent="0">
              <a:buNone/>
            </a:pPr>
            <a:r>
              <a:rPr lang="en-US" b="1" dirty="0">
                <a:solidFill>
                  <a:schemeClr val="tx1"/>
                </a:solidFill>
              </a:rPr>
              <a:t>IV. Result: </a:t>
            </a:r>
            <a:r>
              <a:rPr lang="en-US" dirty="0">
                <a:solidFill>
                  <a:schemeClr val="tx1"/>
                </a:solidFill>
              </a:rPr>
              <a:t>Effective agency (+)</a:t>
            </a:r>
          </a:p>
        </p:txBody>
      </p:sp>
      <p:sp>
        <p:nvSpPr>
          <p:cNvPr id="6"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245980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Solution – Legal opinion </a:t>
            </a:r>
            <a:endParaRPr lang="en-GB" i="1" dirty="0"/>
          </a:p>
        </p:txBody>
      </p:sp>
      <p:sp>
        <p:nvSpPr>
          <p:cNvPr id="3" name="Inhaltsplatzhalter 2"/>
          <p:cNvSpPr>
            <a:spLocks noGrp="1"/>
          </p:cNvSpPr>
          <p:nvPr>
            <p:ph idx="1"/>
          </p:nvPr>
        </p:nvSpPr>
        <p:spPr/>
        <p:txBody>
          <a:bodyPr>
            <a:noAutofit/>
          </a:bodyPr>
          <a:lstStyle/>
          <a:p>
            <a:pPr marL="59436" indent="0" algn="just">
              <a:buNone/>
            </a:pPr>
            <a:r>
              <a:rPr lang="en-US" sz="1600" b="1" dirty="0">
                <a:solidFill>
                  <a:schemeClr val="tx1"/>
                </a:solidFill>
              </a:rPr>
              <a:t>A. Effective agency</a:t>
            </a:r>
          </a:p>
          <a:p>
            <a:pPr marL="59436" indent="0" algn="just">
              <a:buNone/>
            </a:pPr>
            <a:r>
              <a:rPr lang="en-US" sz="1600" dirty="0">
                <a:solidFill>
                  <a:schemeClr val="tx1"/>
                </a:solidFill>
              </a:rPr>
              <a:t>D could have effectively represented C when he concluded the purchase agreement (§ 433 BGB) with A in accordance with § 164 I BGB. For this, D must have made his own declaration of intent on behalf of C within the scope of power of representation (§ 164 I BGB).</a:t>
            </a:r>
          </a:p>
          <a:p>
            <a:pPr marL="59436" indent="0" algn="just">
              <a:buNone/>
            </a:pPr>
            <a:r>
              <a:rPr lang="en-US" sz="1600" dirty="0">
                <a:solidFill>
                  <a:schemeClr val="tx1"/>
                </a:solidFill>
              </a:rPr>
              <a:t>I. This requires an own </a:t>
            </a:r>
            <a:r>
              <a:rPr lang="de-DE" sz="1600" dirty="0" err="1">
                <a:solidFill>
                  <a:schemeClr val="tx1"/>
                </a:solidFill>
              </a:rPr>
              <a:t>declaration</a:t>
            </a:r>
            <a:r>
              <a:rPr lang="de-DE" sz="1600" dirty="0">
                <a:solidFill>
                  <a:schemeClr val="tx1"/>
                </a:solidFill>
              </a:rPr>
              <a:t> </a:t>
            </a:r>
            <a:r>
              <a:rPr lang="de-DE" sz="1600" dirty="0" err="1">
                <a:solidFill>
                  <a:schemeClr val="tx1"/>
                </a:solidFill>
              </a:rPr>
              <a:t>of</a:t>
            </a:r>
            <a:r>
              <a:rPr lang="de-DE" sz="1600" dirty="0">
                <a:solidFill>
                  <a:schemeClr val="tx1"/>
                </a:solidFill>
              </a:rPr>
              <a:t> </a:t>
            </a:r>
            <a:r>
              <a:rPr lang="de-DE" sz="1600" dirty="0" err="1">
                <a:solidFill>
                  <a:schemeClr val="tx1"/>
                </a:solidFill>
              </a:rPr>
              <a:t>intent</a:t>
            </a:r>
            <a:r>
              <a:rPr lang="de-DE" sz="1600" dirty="0">
                <a:solidFill>
                  <a:schemeClr val="tx1"/>
                </a:solidFill>
              </a:rPr>
              <a:t> </a:t>
            </a:r>
            <a:r>
              <a:rPr lang="de-DE" sz="1600" dirty="0" err="1">
                <a:solidFill>
                  <a:schemeClr val="tx1"/>
                </a:solidFill>
              </a:rPr>
              <a:t>made</a:t>
            </a:r>
            <a:r>
              <a:rPr lang="de-DE" sz="1600" dirty="0">
                <a:solidFill>
                  <a:schemeClr val="tx1"/>
                </a:solidFill>
              </a:rPr>
              <a:t> </a:t>
            </a:r>
            <a:r>
              <a:rPr lang="de-DE" sz="1600" dirty="0" err="1">
                <a:solidFill>
                  <a:schemeClr val="tx1"/>
                </a:solidFill>
              </a:rPr>
              <a:t>by</a:t>
            </a:r>
            <a:r>
              <a:rPr lang="de-DE" sz="1600" dirty="0">
                <a:solidFill>
                  <a:schemeClr val="tx1"/>
                </a:solidFill>
              </a:rPr>
              <a:t> D </a:t>
            </a:r>
            <a:r>
              <a:rPr lang="de-DE" sz="1600" dirty="0" err="1">
                <a:solidFill>
                  <a:schemeClr val="tx1"/>
                </a:solidFill>
              </a:rPr>
              <a:t>pursuant</a:t>
            </a:r>
            <a:r>
              <a:rPr lang="de-DE" sz="1600" dirty="0">
                <a:solidFill>
                  <a:schemeClr val="tx1"/>
                </a:solidFill>
              </a:rPr>
              <a:t> </a:t>
            </a:r>
            <a:r>
              <a:rPr lang="de-DE" sz="1600" dirty="0" err="1">
                <a:solidFill>
                  <a:schemeClr val="tx1"/>
                </a:solidFill>
              </a:rPr>
              <a:t>to</a:t>
            </a:r>
            <a:r>
              <a:rPr lang="de-DE" sz="1600" dirty="0">
                <a:solidFill>
                  <a:schemeClr val="tx1"/>
                </a:solidFill>
              </a:rPr>
              <a:t> </a:t>
            </a:r>
            <a:r>
              <a:rPr lang="en-US" sz="1600" dirty="0">
                <a:solidFill>
                  <a:schemeClr val="tx1"/>
                </a:solidFill>
              </a:rPr>
              <a:t>§ 164 I 1 BGB. </a:t>
            </a:r>
            <a:r>
              <a:rPr lang="de-DE" sz="1600" dirty="0">
                <a:solidFill>
                  <a:schemeClr val="tx1"/>
                </a:solidFill>
              </a:rPr>
              <a:t>D </a:t>
            </a:r>
            <a:r>
              <a:rPr lang="en-US" sz="1600" dirty="0">
                <a:solidFill>
                  <a:schemeClr val="tx1"/>
                </a:solidFill>
              </a:rPr>
              <a:t>formed and expressed his own will to conclude a purchase agreement (§ 433 BGB) about the dog sculpture. So an own declaration of intent by D is given.</a:t>
            </a:r>
          </a:p>
          <a:p>
            <a:pPr marL="59436" indent="0" algn="just">
              <a:buNone/>
            </a:pPr>
            <a:r>
              <a:rPr lang="en-US" sz="1600" dirty="0">
                <a:solidFill>
                  <a:schemeClr val="tx1"/>
                </a:solidFill>
              </a:rPr>
              <a:t>II. The principle of publicity </a:t>
            </a:r>
            <a:r>
              <a:rPr lang="de-DE" sz="1600" dirty="0" err="1">
                <a:solidFill>
                  <a:schemeClr val="tx1"/>
                </a:solidFill>
              </a:rPr>
              <a:t>needs</a:t>
            </a:r>
            <a:r>
              <a:rPr lang="de-DE" sz="1600" dirty="0">
                <a:solidFill>
                  <a:schemeClr val="tx1"/>
                </a:solidFill>
              </a:rPr>
              <a:t> </a:t>
            </a:r>
            <a:r>
              <a:rPr lang="de-DE" sz="1600" dirty="0" err="1">
                <a:solidFill>
                  <a:schemeClr val="tx1"/>
                </a:solidFill>
              </a:rPr>
              <a:t>to</a:t>
            </a:r>
            <a:r>
              <a:rPr lang="de-DE" sz="1600" dirty="0">
                <a:solidFill>
                  <a:schemeClr val="tx1"/>
                </a:solidFill>
              </a:rPr>
              <a:t> </a:t>
            </a:r>
            <a:r>
              <a:rPr lang="de-DE" sz="1600" dirty="0" err="1">
                <a:solidFill>
                  <a:schemeClr val="tx1"/>
                </a:solidFill>
              </a:rPr>
              <a:t>be</a:t>
            </a:r>
            <a:r>
              <a:rPr lang="de-DE" sz="1600" dirty="0">
                <a:solidFill>
                  <a:schemeClr val="tx1"/>
                </a:solidFill>
              </a:rPr>
              <a:t> </a:t>
            </a:r>
            <a:r>
              <a:rPr lang="de-DE" sz="1600" dirty="0" err="1">
                <a:solidFill>
                  <a:schemeClr val="tx1"/>
                </a:solidFill>
              </a:rPr>
              <a:t>respected</a:t>
            </a:r>
            <a:r>
              <a:rPr lang="de-DE" sz="1600" dirty="0">
                <a:solidFill>
                  <a:schemeClr val="tx1"/>
                </a:solidFill>
              </a:rPr>
              <a:t>. </a:t>
            </a:r>
            <a:r>
              <a:rPr lang="de-DE" sz="1600" dirty="0" err="1">
                <a:solidFill>
                  <a:schemeClr val="tx1"/>
                </a:solidFill>
              </a:rPr>
              <a:t>According</a:t>
            </a:r>
            <a:r>
              <a:rPr lang="de-DE" sz="1600" dirty="0">
                <a:solidFill>
                  <a:schemeClr val="tx1"/>
                </a:solidFill>
              </a:rPr>
              <a:t> </a:t>
            </a:r>
            <a:r>
              <a:rPr lang="de-DE" sz="1600" dirty="0" err="1">
                <a:solidFill>
                  <a:schemeClr val="tx1"/>
                </a:solidFill>
              </a:rPr>
              <a:t>to</a:t>
            </a:r>
            <a:r>
              <a:rPr lang="de-DE" sz="1600" dirty="0">
                <a:solidFill>
                  <a:schemeClr val="tx1"/>
                </a:solidFill>
              </a:rPr>
              <a:t> § 164 I BGB D must </a:t>
            </a:r>
            <a:r>
              <a:rPr lang="de-DE" sz="1600" dirty="0" err="1">
                <a:solidFill>
                  <a:schemeClr val="tx1"/>
                </a:solidFill>
              </a:rPr>
              <a:t>act</a:t>
            </a:r>
            <a:r>
              <a:rPr lang="de-DE" sz="1600" dirty="0">
                <a:solidFill>
                  <a:schemeClr val="tx1"/>
                </a:solidFill>
              </a:rPr>
              <a:t> </a:t>
            </a:r>
            <a:r>
              <a:rPr lang="en-US" sz="1600" dirty="0">
                <a:solidFill>
                  <a:schemeClr val="tx1"/>
                </a:solidFill>
              </a:rPr>
              <a:t>in the name of principal C.</a:t>
            </a:r>
            <a:r>
              <a:rPr lang="de-DE" sz="1600" dirty="0">
                <a:solidFill>
                  <a:schemeClr val="tx1"/>
                </a:solidFill>
              </a:rPr>
              <a:t> </a:t>
            </a:r>
            <a:r>
              <a:rPr lang="en-US" sz="1600" dirty="0">
                <a:solidFill>
                  <a:schemeClr val="tx1"/>
                </a:solidFill>
              </a:rPr>
              <a:t>D explained the situation to A. So D must have told A that he was looking for a piece for C‘s collection. This means the principle of publicity is respected.</a:t>
            </a:r>
          </a:p>
          <a:p>
            <a:pPr marL="59436" indent="0">
              <a:buNone/>
            </a:pPr>
            <a:r>
              <a:rPr lang="de-DE" sz="1600" dirty="0">
                <a:solidFill>
                  <a:schemeClr val="tx1"/>
                </a:solidFill>
              </a:rPr>
              <a:t>III. </a:t>
            </a:r>
            <a:r>
              <a:rPr lang="de-DE" sz="1600" dirty="0" err="1">
                <a:solidFill>
                  <a:schemeClr val="tx1"/>
                </a:solidFill>
              </a:rPr>
              <a:t>It</a:t>
            </a:r>
            <a:r>
              <a:rPr lang="de-DE" sz="1600" dirty="0">
                <a:solidFill>
                  <a:schemeClr val="tx1"/>
                </a:solidFill>
              </a:rPr>
              <a:t> </a:t>
            </a:r>
            <a:r>
              <a:rPr lang="de-DE" sz="1600" dirty="0" err="1">
                <a:solidFill>
                  <a:schemeClr val="tx1"/>
                </a:solidFill>
              </a:rPr>
              <a:t>is</a:t>
            </a:r>
            <a:r>
              <a:rPr lang="de-DE" sz="1600" dirty="0">
                <a:solidFill>
                  <a:schemeClr val="tx1"/>
                </a:solidFill>
              </a:rPr>
              <a:t> </a:t>
            </a:r>
            <a:r>
              <a:rPr lang="de-DE" sz="1600" dirty="0" err="1">
                <a:solidFill>
                  <a:schemeClr val="tx1"/>
                </a:solidFill>
              </a:rPr>
              <a:t>necessary</a:t>
            </a:r>
            <a:r>
              <a:rPr lang="de-DE" sz="1600" dirty="0">
                <a:solidFill>
                  <a:schemeClr val="tx1"/>
                </a:solidFill>
              </a:rPr>
              <a:t> </a:t>
            </a:r>
            <a:r>
              <a:rPr lang="de-DE" sz="1600" dirty="0" err="1">
                <a:solidFill>
                  <a:schemeClr val="tx1"/>
                </a:solidFill>
              </a:rPr>
              <a:t>that</a:t>
            </a:r>
            <a:r>
              <a:rPr lang="de-DE" sz="1600" dirty="0">
                <a:solidFill>
                  <a:schemeClr val="tx1"/>
                </a:solidFill>
              </a:rPr>
              <a:t> D </a:t>
            </a:r>
            <a:r>
              <a:rPr lang="de-DE" sz="1600" dirty="0" err="1">
                <a:solidFill>
                  <a:schemeClr val="tx1"/>
                </a:solidFill>
              </a:rPr>
              <a:t>acted</a:t>
            </a:r>
            <a:r>
              <a:rPr lang="de-DE" sz="1600" dirty="0">
                <a:solidFill>
                  <a:schemeClr val="tx1"/>
                </a:solidFill>
              </a:rPr>
              <a:t> </a:t>
            </a:r>
            <a:r>
              <a:rPr lang="de-DE" sz="1600" dirty="0" err="1">
                <a:solidFill>
                  <a:schemeClr val="tx1"/>
                </a:solidFill>
              </a:rPr>
              <a:t>with</a:t>
            </a:r>
            <a:r>
              <a:rPr lang="de-DE" sz="1600" dirty="0">
                <a:solidFill>
                  <a:schemeClr val="tx1"/>
                </a:solidFill>
              </a:rPr>
              <a:t> p</a:t>
            </a:r>
            <a:r>
              <a:rPr lang="en-US" sz="1600" dirty="0" err="1">
                <a:solidFill>
                  <a:schemeClr val="tx1"/>
                </a:solidFill>
              </a:rPr>
              <a:t>ower</a:t>
            </a:r>
            <a:r>
              <a:rPr lang="en-US" sz="1600" dirty="0">
                <a:solidFill>
                  <a:schemeClr val="tx1"/>
                </a:solidFill>
              </a:rPr>
              <a:t> of representation pursuant to § 164 I 1 BGB. Prerequisite is that C conferred power of representation to D and that D acted within this scope of power of representation.</a:t>
            </a:r>
            <a:endParaRPr lang="de-DE" sz="1600" dirty="0">
              <a:solidFill>
                <a:schemeClr val="tx1"/>
              </a:solidFill>
            </a:endParaRPr>
          </a:p>
          <a:p>
            <a:pPr marL="177800" lvl="1" indent="0">
              <a:buNone/>
            </a:pPr>
            <a:r>
              <a:rPr lang="en-US" sz="1600" dirty="0">
                <a:solidFill>
                  <a:schemeClr val="tx1"/>
                </a:solidFill>
              </a:rPr>
              <a:t>1. C must have conferred the power of representation to D. This requires a declaration to the person to be granted authority or to the third party in relation to whom the authority is to have effect (§ 167 I BGB). </a:t>
            </a:r>
          </a:p>
          <a:p>
            <a:pPr marL="357188" lvl="1" indent="0">
              <a:buNone/>
            </a:pPr>
            <a:r>
              <a:rPr lang="en-US" sz="1600" dirty="0">
                <a:solidFill>
                  <a:schemeClr val="tx1"/>
                </a:solidFill>
              </a:rPr>
              <a:t>a) D was employed by C as an art dealer to search for pieces for her collection. Besides that C told D that he should buy the wolf sculpture for her. So internal </a:t>
            </a:r>
            <a:r>
              <a:rPr lang="en-US" sz="1600" dirty="0" err="1">
                <a:solidFill>
                  <a:schemeClr val="tx1"/>
                </a:solidFill>
              </a:rPr>
              <a:t>authorisation</a:t>
            </a:r>
            <a:r>
              <a:rPr lang="en-US" sz="1600" dirty="0">
                <a:solidFill>
                  <a:schemeClr val="tx1"/>
                </a:solidFill>
              </a:rPr>
              <a:t> (§ 167 I Alt. 1 BGB) is given.</a:t>
            </a:r>
          </a:p>
          <a:p>
            <a:pPr marL="59436" indent="0" algn="just">
              <a:buNone/>
            </a:pPr>
            <a:endParaRPr lang="en-US" sz="1600" dirty="0">
              <a:solidFill>
                <a:schemeClr val="tx1"/>
              </a:solidFill>
            </a:endParaRPr>
          </a:p>
        </p:txBody>
      </p:sp>
      <p:sp>
        <p:nvSpPr>
          <p:cNvPr id="5"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602830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Solution – Legal opinion </a:t>
            </a:r>
            <a:endParaRPr lang="en-GB" i="1" dirty="0"/>
          </a:p>
        </p:txBody>
      </p:sp>
      <p:sp>
        <p:nvSpPr>
          <p:cNvPr id="3" name="Inhaltsplatzhalter 2"/>
          <p:cNvSpPr>
            <a:spLocks noGrp="1"/>
          </p:cNvSpPr>
          <p:nvPr>
            <p:ph idx="1"/>
          </p:nvPr>
        </p:nvSpPr>
        <p:spPr/>
        <p:txBody>
          <a:bodyPr>
            <a:normAutofit/>
          </a:bodyPr>
          <a:lstStyle/>
          <a:p>
            <a:pPr marL="357188" indent="0">
              <a:buNone/>
            </a:pPr>
            <a:r>
              <a:rPr lang="en-US" sz="1600" dirty="0">
                <a:solidFill>
                  <a:schemeClr val="tx1"/>
                </a:solidFill>
              </a:rPr>
              <a:t>b) C could also have </a:t>
            </a:r>
            <a:r>
              <a:rPr lang="en-US" sz="1600" dirty="0" err="1">
                <a:solidFill>
                  <a:schemeClr val="tx1"/>
                </a:solidFill>
              </a:rPr>
              <a:t>authorised</a:t>
            </a:r>
            <a:r>
              <a:rPr lang="en-US" sz="1600" dirty="0">
                <a:solidFill>
                  <a:schemeClr val="tx1"/>
                </a:solidFill>
              </a:rPr>
              <a:t> D externally (§ 167 I Alt. 2 BGB) towards A. D explained the situation to A. However it is not sure whether C actively informed A</a:t>
            </a:r>
            <a:r>
              <a:rPr lang="de-DE" sz="1600" dirty="0">
                <a:solidFill>
                  <a:schemeClr val="tx1"/>
                </a:solidFill>
              </a:rPr>
              <a:t>. So </a:t>
            </a:r>
            <a:r>
              <a:rPr lang="de-DE" sz="1600" dirty="0" err="1">
                <a:solidFill>
                  <a:schemeClr val="tx1"/>
                </a:solidFill>
              </a:rPr>
              <a:t>no</a:t>
            </a:r>
            <a:r>
              <a:rPr lang="de-DE" sz="1600" dirty="0">
                <a:solidFill>
                  <a:schemeClr val="tx1"/>
                </a:solidFill>
              </a:rPr>
              <a:t> </a:t>
            </a:r>
            <a:r>
              <a:rPr lang="de-DE" sz="1600" dirty="0" err="1">
                <a:solidFill>
                  <a:schemeClr val="tx1"/>
                </a:solidFill>
              </a:rPr>
              <a:t>external</a:t>
            </a:r>
            <a:r>
              <a:rPr lang="de-DE" sz="1600" dirty="0">
                <a:solidFill>
                  <a:schemeClr val="tx1"/>
                </a:solidFill>
              </a:rPr>
              <a:t> </a:t>
            </a:r>
            <a:r>
              <a:rPr lang="de-DE" sz="1600" dirty="0" err="1">
                <a:solidFill>
                  <a:schemeClr val="tx1"/>
                </a:solidFill>
              </a:rPr>
              <a:t>authorisation</a:t>
            </a:r>
            <a:r>
              <a:rPr lang="de-DE" sz="1600" dirty="0">
                <a:solidFill>
                  <a:schemeClr val="tx1"/>
                </a:solidFill>
              </a:rPr>
              <a:t> </a:t>
            </a:r>
            <a:r>
              <a:rPr lang="de-DE" sz="1600" dirty="0" err="1">
                <a:solidFill>
                  <a:schemeClr val="tx1"/>
                </a:solidFill>
              </a:rPr>
              <a:t>is</a:t>
            </a:r>
            <a:r>
              <a:rPr lang="de-DE" sz="1600" dirty="0">
                <a:solidFill>
                  <a:schemeClr val="tx1"/>
                </a:solidFill>
              </a:rPr>
              <a:t> </a:t>
            </a:r>
            <a:r>
              <a:rPr lang="de-DE" sz="1600" dirty="0" err="1">
                <a:solidFill>
                  <a:schemeClr val="tx1"/>
                </a:solidFill>
              </a:rPr>
              <a:t>given</a:t>
            </a:r>
            <a:r>
              <a:rPr lang="de-DE" sz="1600" dirty="0">
                <a:solidFill>
                  <a:schemeClr val="tx1"/>
                </a:solidFill>
              </a:rPr>
              <a:t>.</a:t>
            </a:r>
          </a:p>
          <a:p>
            <a:pPr marL="357188" indent="0">
              <a:buNone/>
            </a:pPr>
            <a:r>
              <a:rPr lang="de-DE" sz="1600" dirty="0">
                <a:solidFill>
                  <a:schemeClr val="tx1"/>
                </a:solidFill>
              </a:rPr>
              <a:t>c) Power </a:t>
            </a:r>
            <a:r>
              <a:rPr lang="de-DE" sz="1600" dirty="0" err="1">
                <a:solidFill>
                  <a:schemeClr val="tx1"/>
                </a:solidFill>
              </a:rPr>
              <a:t>of</a:t>
            </a:r>
            <a:r>
              <a:rPr lang="de-DE" sz="1600" dirty="0">
                <a:solidFill>
                  <a:schemeClr val="tx1"/>
                </a:solidFill>
              </a:rPr>
              <a:t> </a:t>
            </a:r>
            <a:r>
              <a:rPr lang="de-DE" sz="1600" dirty="0" err="1">
                <a:solidFill>
                  <a:schemeClr val="tx1"/>
                </a:solidFill>
              </a:rPr>
              <a:t>representation</a:t>
            </a:r>
            <a:r>
              <a:rPr lang="de-DE" sz="1600" dirty="0">
                <a:solidFill>
                  <a:schemeClr val="tx1"/>
                </a:solidFill>
              </a:rPr>
              <a:t> </a:t>
            </a:r>
            <a:r>
              <a:rPr lang="de-DE" sz="1600" dirty="0" err="1">
                <a:solidFill>
                  <a:schemeClr val="tx1"/>
                </a:solidFill>
              </a:rPr>
              <a:t>has</a:t>
            </a:r>
            <a:r>
              <a:rPr lang="de-DE" sz="1600" dirty="0">
                <a:solidFill>
                  <a:schemeClr val="tx1"/>
                </a:solidFill>
              </a:rPr>
              <a:t> </a:t>
            </a:r>
            <a:r>
              <a:rPr lang="de-DE" sz="1600" dirty="0" err="1">
                <a:solidFill>
                  <a:schemeClr val="tx1"/>
                </a:solidFill>
              </a:rPr>
              <a:t>been</a:t>
            </a:r>
            <a:r>
              <a:rPr lang="de-DE" sz="1600" dirty="0">
                <a:solidFill>
                  <a:schemeClr val="tx1"/>
                </a:solidFill>
              </a:rPr>
              <a:t> </a:t>
            </a:r>
            <a:r>
              <a:rPr lang="de-DE" sz="1600" dirty="0" err="1">
                <a:solidFill>
                  <a:schemeClr val="tx1"/>
                </a:solidFill>
              </a:rPr>
              <a:t>conferred</a:t>
            </a:r>
            <a:r>
              <a:rPr lang="de-DE" sz="1600" dirty="0">
                <a:solidFill>
                  <a:schemeClr val="tx1"/>
                </a:solidFill>
              </a:rPr>
              <a:t> </a:t>
            </a:r>
            <a:r>
              <a:rPr lang="de-DE" sz="1600" dirty="0" err="1">
                <a:solidFill>
                  <a:schemeClr val="tx1"/>
                </a:solidFill>
              </a:rPr>
              <a:t>to</a:t>
            </a:r>
            <a:r>
              <a:rPr lang="de-DE" sz="1600" dirty="0">
                <a:solidFill>
                  <a:schemeClr val="tx1"/>
                </a:solidFill>
              </a:rPr>
              <a:t> D, at least </a:t>
            </a:r>
            <a:r>
              <a:rPr lang="de-DE" sz="1600" dirty="0" err="1">
                <a:solidFill>
                  <a:schemeClr val="tx1"/>
                </a:solidFill>
              </a:rPr>
              <a:t>by</a:t>
            </a:r>
            <a:r>
              <a:rPr lang="de-DE" sz="1600" dirty="0">
                <a:solidFill>
                  <a:schemeClr val="tx1"/>
                </a:solidFill>
              </a:rPr>
              <a:t> </a:t>
            </a:r>
            <a:r>
              <a:rPr lang="de-DE" sz="1600" dirty="0" err="1">
                <a:solidFill>
                  <a:schemeClr val="tx1"/>
                </a:solidFill>
              </a:rPr>
              <a:t>way</a:t>
            </a:r>
            <a:r>
              <a:rPr lang="de-DE" sz="1600" dirty="0">
                <a:solidFill>
                  <a:schemeClr val="tx1"/>
                </a:solidFill>
              </a:rPr>
              <a:t> </a:t>
            </a:r>
            <a:r>
              <a:rPr lang="de-DE" sz="1600" dirty="0" err="1">
                <a:solidFill>
                  <a:schemeClr val="tx1"/>
                </a:solidFill>
              </a:rPr>
              <a:t>of</a:t>
            </a:r>
            <a:r>
              <a:rPr lang="de-DE" sz="1600" dirty="0">
                <a:solidFill>
                  <a:schemeClr val="tx1"/>
                </a:solidFill>
              </a:rPr>
              <a:t> an internal </a:t>
            </a:r>
            <a:r>
              <a:rPr lang="de-DE" sz="1600" dirty="0" err="1">
                <a:solidFill>
                  <a:schemeClr val="tx1"/>
                </a:solidFill>
              </a:rPr>
              <a:t>authorisation</a:t>
            </a:r>
            <a:r>
              <a:rPr lang="de-DE" sz="1600" dirty="0">
                <a:solidFill>
                  <a:schemeClr val="tx1"/>
                </a:solidFill>
              </a:rPr>
              <a:t>.</a:t>
            </a:r>
          </a:p>
          <a:p>
            <a:pPr marL="177800" indent="0" algn="just">
              <a:buNone/>
            </a:pPr>
            <a:r>
              <a:rPr lang="en-US" sz="1600" dirty="0">
                <a:solidFill>
                  <a:schemeClr val="tx1"/>
                </a:solidFill>
              </a:rPr>
              <a:t>2. It is necessary to examine whether D acted within the scope of the power of representation.</a:t>
            </a:r>
          </a:p>
          <a:p>
            <a:pPr marL="357188" indent="0" algn="just">
              <a:buNone/>
            </a:pPr>
            <a:r>
              <a:rPr lang="en-US" sz="1600" dirty="0">
                <a:solidFill>
                  <a:schemeClr val="tx1"/>
                </a:solidFill>
              </a:rPr>
              <a:t>a) On the one hand D bought a hunting dog sculpture of bronze that is very close to the desired sculpture and will fit in well with C's collection. C even sets the sculpture up. This means that the sculpture and its purchase are probably to C's liking. </a:t>
            </a:r>
          </a:p>
          <a:p>
            <a:pPr marL="357188" indent="0" algn="just">
              <a:buNone/>
            </a:pPr>
            <a:r>
              <a:rPr lang="en-US" sz="1600" dirty="0">
                <a:solidFill>
                  <a:schemeClr val="tx1"/>
                </a:solidFill>
              </a:rPr>
              <a:t>b) Nevertheless D didn’t stick to C’s detailed instructions to buy the desired wolf sculpture. If the sculpture appeals to C, she still has the option of approving D’s declaration of intent (§ 177 I BGB). </a:t>
            </a:r>
          </a:p>
          <a:p>
            <a:pPr marL="357188" indent="0" algn="just">
              <a:buNone/>
            </a:pPr>
            <a:r>
              <a:rPr lang="en-US" sz="1600" dirty="0">
                <a:solidFill>
                  <a:schemeClr val="tx1"/>
                </a:solidFill>
              </a:rPr>
              <a:t>c) Due to C's clear instructions and the possibility of ratification, D didn’t act within the scope of power of representation.</a:t>
            </a:r>
          </a:p>
          <a:p>
            <a:pPr marL="177800" indent="0" algn="just">
              <a:buNone/>
            </a:pPr>
            <a:r>
              <a:rPr lang="en-US" sz="1600" dirty="0">
                <a:solidFill>
                  <a:schemeClr val="tx1"/>
                </a:solidFill>
              </a:rPr>
              <a:t>3. However C could have ratified D’s declaration of intent according to § 177 I BGB. Without power of representation, the declaration of intent in question is pending invalid. Pending invalidity as a temporary condition can develop into full effectiveness or ineffectiveness of the transaction. C was surprised by the purchase of the dog sculpture. Yet by not raising objections and setting up the sculpture, C implicitly ratified D’s declaration of intent.</a:t>
            </a:r>
          </a:p>
          <a:p>
            <a:pPr marL="177800" indent="0" algn="just">
              <a:buNone/>
            </a:pPr>
            <a:r>
              <a:rPr lang="en-US" sz="1600" dirty="0">
                <a:solidFill>
                  <a:schemeClr val="tx1"/>
                </a:solidFill>
              </a:rPr>
              <a:t>4. Therefore D had no power of representation, but his declaration of intent is ratified.</a:t>
            </a:r>
          </a:p>
          <a:p>
            <a:pPr marL="0" indent="0" algn="just">
              <a:buNone/>
            </a:pPr>
            <a:r>
              <a:rPr lang="en-US" sz="1600" dirty="0">
                <a:solidFill>
                  <a:schemeClr val="tx1"/>
                </a:solidFill>
              </a:rPr>
              <a:t>IV. Finally, </a:t>
            </a:r>
            <a:r>
              <a:rPr lang="en-US" sz="1600">
                <a:solidFill>
                  <a:schemeClr val="tx1"/>
                </a:solidFill>
              </a:rPr>
              <a:t>D effectively </a:t>
            </a:r>
            <a:r>
              <a:rPr lang="en-US" sz="1600" dirty="0">
                <a:solidFill>
                  <a:schemeClr val="tx1"/>
                </a:solidFill>
              </a:rPr>
              <a:t>represented C when he concluded the purchase agreement (§ 433 BGB) with A in accordance with § 164 </a:t>
            </a:r>
            <a:r>
              <a:rPr lang="en-US" sz="1600">
                <a:solidFill>
                  <a:schemeClr val="tx1"/>
                </a:solidFill>
              </a:rPr>
              <a:t>I BGB.</a:t>
            </a:r>
            <a:endParaRPr lang="en-US" sz="1600" dirty="0">
              <a:solidFill>
                <a:schemeClr val="tx1"/>
              </a:solidFill>
            </a:endParaRPr>
          </a:p>
          <a:p>
            <a:pPr marL="0" indent="0">
              <a:buNone/>
            </a:pPr>
            <a:endParaRPr lang="de-DE" sz="1600" dirty="0">
              <a:solidFill>
                <a:schemeClr val="tx1"/>
              </a:solidFill>
            </a:endParaRPr>
          </a:p>
        </p:txBody>
      </p:sp>
      <p:sp>
        <p:nvSpPr>
          <p:cNvPr id="5" name="Fußzeilenplatzhalter 3"/>
          <p:cNvSpPr>
            <a:spLocks noGrp="1"/>
          </p:cNvSpPr>
          <p:nvPr>
            <p:ph type="ftr" sz="quarter" idx="11"/>
          </p:nvPr>
        </p:nvSpPr>
        <p:spPr>
          <a:xfrm>
            <a:off x="787790" y="6535246"/>
            <a:ext cx="5146393" cy="228659"/>
          </a:xfrm>
        </p:spPr>
        <p:txBody>
          <a:bodyPr/>
          <a:lstStyle/>
          <a:p>
            <a:r>
              <a:rPr lang="en-US"/>
              <a:t>Magdalene Back | TUM School of Management</a:t>
            </a:r>
            <a:endParaRPr lang="en-US" dirty="0"/>
          </a:p>
        </p:txBody>
      </p:sp>
    </p:spTree>
    <p:extLst>
      <p:ext uri="{BB962C8B-B14F-4D97-AF65-F5344CB8AC3E}">
        <p14:creationId xmlns:p14="http://schemas.microsoft.com/office/powerpoint/2010/main" val="310090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Ion-Sitzungssaal">
  <a:themeElements>
    <a:clrScheme name="Ion-Sitzungssaal">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Sitzungssaal">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Sitzungssaal">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Vorlage" id="{53119835-39BC-7D42-A027-E219E75CB5CE}" vid="{942766AC-F657-6145-ABD9-0C9265830DA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1659</Words>
  <Application>Microsoft Office PowerPoint</Application>
  <PresentationFormat>Breitbild</PresentationFormat>
  <Paragraphs>133</Paragraphs>
  <Slides>11</Slides>
  <Notes>10</Notes>
  <HiddenSlides>1</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11</vt:i4>
      </vt:variant>
    </vt:vector>
  </HeadingPairs>
  <TitlesOfParts>
    <vt:vector size="21" baseType="lpstr">
      <vt:lpstr>Arial</vt:lpstr>
      <vt:lpstr>Arial Black</vt:lpstr>
      <vt:lpstr>Calibri</vt:lpstr>
      <vt:lpstr>Century Gothic</vt:lpstr>
      <vt:lpstr>Georgia</vt:lpstr>
      <vt:lpstr>Helvetica</vt:lpstr>
      <vt:lpstr>Symbol</vt:lpstr>
      <vt:lpstr>Wingdings</vt:lpstr>
      <vt:lpstr>Wingdings 3</vt:lpstr>
      <vt:lpstr>1_Ion-Sitzungssaal</vt:lpstr>
      <vt:lpstr> Professorship of Corporate Law Prof. Dr. Stefanie Jung, M.A. (CoE)   Introduction to Business Law Practice - Legal opinion style </vt:lpstr>
      <vt:lpstr>Remarks</vt:lpstr>
      <vt:lpstr>Case Facts</vt:lpstr>
      <vt:lpstr>Case Facts</vt:lpstr>
      <vt:lpstr>Sketch</vt:lpstr>
      <vt:lpstr>Solution – Bullet points</vt:lpstr>
      <vt:lpstr>Solution – Bullet points</vt:lpstr>
      <vt:lpstr>Solution – Bullet points</vt:lpstr>
      <vt:lpstr>Solution – Bullet points</vt:lpstr>
      <vt:lpstr>Solution – Legal opinion </vt:lpstr>
      <vt:lpstr>Solution – Legal opinion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opinion style - Solution</dc:title>
  <dc:creator>anne-kathrin.haag@tum.de</dc:creator>
  <cp:lastModifiedBy>Magdalene Back</cp:lastModifiedBy>
  <cp:revision>807</cp:revision>
  <dcterms:created xsi:type="dcterms:W3CDTF">2020-06-07T14:29:27Z</dcterms:created>
  <dcterms:modified xsi:type="dcterms:W3CDTF">2026-06-09T06:41:42Z</dcterms:modified>
</cp:coreProperties>
</file>