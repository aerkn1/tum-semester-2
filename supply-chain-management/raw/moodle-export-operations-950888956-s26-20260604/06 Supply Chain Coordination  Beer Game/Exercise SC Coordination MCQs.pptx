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3" r:id="rId3"/>
  </p:sldMasterIdLst>
  <p:notesMasterIdLst>
    <p:notesMasterId r:id="rId9"/>
  </p:notesMasterIdLst>
  <p:sldIdLst>
    <p:sldId id="256" r:id="rId4"/>
    <p:sldId id="260" r:id="rId5"/>
    <p:sldId id="261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18" autoAdjust="0"/>
    <p:restoredTop sz="95289" autoAdjust="0"/>
  </p:normalViewPr>
  <p:slideViewPr>
    <p:cSldViewPr snapToGrid="0">
      <p:cViewPr varScale="1">
        <p:scale>
          <a:sx n="105" d="100"/>
          <a:sy n="105" d="100"/>
        </p:scale>
        <p:origin x="15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BF9A6-6B20-42BB-A75B-30E92D5D3D8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0E42D-2B34-4473-92A7-15F306C3D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74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363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de-DE" dirty="0"/>
              <a:t>(c)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de-DE" dirty="0"/>
              <a:t>(a)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045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3. (b)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4.</a:t>
            </a:r>
            <a:r>
              <a:rPr lang="de-DE" baseline="0" dirty="0"/>
              <a:t> (c): </a:t>
            </a:r>
            <a:r>
              <a:rPr lang="en-US" b="1" dirty="0"/>
              <a:t>Shortage gaming</a:t>
            </a:r>
            <a:r>
              <a:rPr lang="en-US" dirty="0"/>
              <a:t> is a manipulative behavior that occurs in supply chains when buyers </a:t>
            </a:r>
            <a:r>
              <a:rPr lang="en-US" b="1" dirty="0"/>
              <a:t>intentionally exaggerate their orders</a:t>
            </a:r>
            <a:r>
              <a:rPr lang="en-US" dirty="0"/>
              <a:t> in anticipation of future shortages.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baseline="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79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4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3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7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4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2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2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0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8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8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48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4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0"/>
            <a:ext cx="11345332" cy="50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Click to edit the title of the presentation</a:t>
            </a:r>
            <a:endParaRPr lang="de-DE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867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 dirty="0"/>
              <a:t>Speaker</a:t>
            </a:r>
          </a:p>
          <a:p>
            <a:pPr lvl="0"/>
            <a:r>
              <a:rPr lang="en-US" noProof="0" dirty="0"/>
              <a:t>Place, date (spelling: 00 January 2015)</a:t>
            </a:r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5"/>
            <a:ext cx="1043938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67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Mrunal Mohadikar (TUM) | can be extended as desired | Heilbronn, Germany</a:t>
            </a:r>
          </a:p>
        </p:txBody>
      </p:sp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0958400" y="6473314"/>
            <a:ext cx="810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67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0781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Mrunal Mohadikar (TUM) | can be extended as desired | Heilbronn, Germany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345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1"/>
            <a:ext cx="1134533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the title of the presentation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Mrunal Mohadikar (TUM) | can be extended as desired | Heilbronn, Germany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4883" y="1990525"/>
            <a:ext cx="11353784" cy="13208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67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Speaker</a:t>
            </a:r>
          </a:p>
          <a:p>
            <a:pPr lvl="0"/>
            <a:r>
              <a:rPr lang="en-US" noProof="0" dirty="0"/>
              <a:t>Place, date (spelling: 00 January 2015)</a:t>
            </a:r>
          </a:p>
        </p:txBody>
      </p:sp>
    </p:spTree>
    <p:extLst>
      <p:ext uri="{BB962C8B-B14F-4D97-AF65-F5344CB8AC3E}">
        <p14:creationId xmlns:p14="http://schemas.microsoft.com/office/powerpoint/2010/main" val="994146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Mrunal Mohadikar (TUM) | can be extended as desired | Heilbronn, Germany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0"/>
            <a:ext cx="11345332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Presentation pattern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can also be used as a chapter separator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1721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w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emf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B6EE7-79B4-4CC2-80DC-EE7EF996E69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AE22B-5BB0-4197-9235-A4B223AF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2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882" y="432000"/>
            <a:ext cx="806365" cy="424688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426009" y="428625"/>
            <a:ext cx="954723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lang="de-DE" sz="1067" dirty="0">
                <a:solidFill>
                  <a:schemeClr val="tx2"/>
                </a:solidFill>
                <a:latin typeface="+mn-lt"/>
              </a:rPr>
              <a:t>Professorship for Supply Chain Management</a:t>
            </a:r>
          </a:p>
          <a:p>
            <a:pPr>
              <a:lnSpc>
                <a:spcPts val="1200"/>
              </a:lnSpc>
            </a:pPr>
            <a:r>
              <a:rPr lang="de-DE" sz="1067" dirty="0">
                <a:solidFill>
                  <a:schemeClr val="tx2"/>
                </a:solidFill>
                <a:latin typeface="+mn-lt"/>
              </a:rPr>
              <a:t>TUM</a:t>
            </a:r>
            <a:r>
              <a:rPr lang="de-DE" sz="1067" baseline="0" dirty="0">
                <a:solidFill>
                  <a:schemeClr val="tx2"/>
                </a:solidFill>
                <a:latin typeface="+mn-lt"/>
              </a:rPr>
              <a:t> School of</a:t>
            </a:r>
            <a:r>
              <a:rPr lang="de-DE" sz="1067" dirty="0">
                <a:solidFill>
                  <a:schemeClr val="tx2"/>
                </a:solidFill>
                <a:latin typeface="+mn-lt"/>
              </a:rPr>
              <a:t> Management</a:t>
            </a:r>
          </a:p>
          <a:p>
            <a:pPr>
              <a:lnSpc>
                <a:spcPts val="1200"/>
              </a:lnSpc>
            </a:pPr>
            <a:r>
              <a:rPr lang="de-DE" sz="1067" dirty="0">
                <a:solidFill>
                  <a:schemeClr val="tx2"/>
                </a:solidFill>
                <a:latin typeface="+mn-lt"/>
              </a:rPr>
              <a:t>Technical University of Munich</a:t>
            </a:r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5"/>
            <a:ext cx="1043938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67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Mrunal Mohadikar (TUM) | can be extended as desired | Heilbronn, Germany</a:t>
            </a:r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0958400" y="6473314"/>
            <a:ext cx="810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67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602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933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5pPr>
      <a:lvl6pPr marL="609585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6pPr>
      <a:lvl7pPr marL="1219170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7pPr>
      <a:lvl8pPr marL="1828754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8pPr>
      <a:lvl9pPr marL="2438339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234945" indent="-234945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480472" indent="-245527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717533" indent="-237061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952476" indent="-234945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-253" r="-83" b="1915"/>
          <a:stretch/>
        </p:blipFill>
        <p:spPr>
          <a:xfrm>
            <a:off x="2" y="-20319"/>
            <a:ext cx="12202159" cy="687832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5"/>
            <a:ext cx="1043938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67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Mrunal Mohadikar (TUM) | can be extended as desired | Heilbronn, Germany</a:t>
            </a: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0958400" y="6473314"/>
            <a:ext cx="810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67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0" name="Bild 6" descr="20150416 tum logo blau png final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58401" y="432000"/>
            <a:ext cx="799351" cy="42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9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933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234945" indent="-234945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480472" indent="-245527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717533" indent="-237061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952476" indent="-234945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298936" y="5992485"/>
            <a:ext cx="2743845" cy="527579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2400" baseline="-250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425451" y="1978720"/>
            <a:ext cx="11345332" cy="12741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lnSpc>
                <a:spcPct val="150000"/>
              </a:lnSpc>
            </a:pPr>
            <a:r>
              <a:rPr lang="en-US" sz="1867" dirty="0">
                <a:solidFill>
                  <a:prstClr val="white"/>
                </a:solidFill>
                <a:latin typeface="Arial"/>
              </a:rPr>
              <a:t>Daun Choi</a:t>
            </a:r>
          </a:p>
          <a:p>
            <a:pPr defTabSz="1219170">
              <a:lnSpc>
                <a:spcPct val="150000"/>
              </a:lnSpc>
            </a:pPr>
            <a:r>
              <a:rPr lang="en-US" sz="1867" dirty="0">
                <a:solidFill>
                  <a:prstClr val="white"/>
                </a:solidFill>
                <a:latin typeface="Arial"/>
              </a:rPr>
              <a:t>Heilbronn, 1 June 2026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Supply Chain </a:t>
            </a:r>
            <a:r>
              <a:rPr lang="de-DE" dirty="0" err="1"/>
              <a:t>Coordination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072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CD46-1A7C-48CF-96C4-5F7C5CFE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1063199"/>
            <a:ext cx="11345332" cy="501651"/>
          </a:xfrm>
        </p:spPr>
        <p:txBody>
          <a:bodyPr/>
          <a:lstStyle/>
          <a:p>
            <a:r>
              <a:rPr lang="en-US" dirty="0"/>
              <a:t>MCQs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E73C-048D-46BF-ACC7-1BE2E2A22B2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3914" y="1837363"/>
            <a:ext cx="11345332" cy="4488341"/>
          </a:xfrm>
        </p:spPr>
        <p:txBody>
          <a:bodyPr/>
          <a:lstStyle/>
          <a:p>
            <a:pPr marL="685783" lvl="1" indent="-461422">
              <a:buNone/>
            </a:pPr>
            <a:r>
              <a:rPr lang="en-US" sz="1867" dirty="0">
                <a:latin typeface="+mj-lt"/>
              </a:rPr>
              <a:t>1. Which of the following is TRUE about the bullwhip effect?</a:t>
            </a:r>
            <a:endParaRPr lang="en-US" dirty="0">
              <a:latin typeface="+mj-lt"/>
            </a:endParaRP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It decreases order fluctuations upstream in a supply chain.</a:t>
            </a:r>
            <a:endParaRPr lang="en-US" dirty="0">
              <a:latin typeface="+mj-lt"/>
            </a:endParaRP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It only occurs in beer and semiconductor supply chains.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It can increase the costs associated with inventories in a supply chain. 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The bullwhip effect was first noted in the 1970s, is illustrated by the beer game, but thanks to digital transformation is practically absent in the industry.</a:t>
            </a:r>
          </a:p>
          <a:p>
            <a:pPr marL="937661" lvl="2" indent="-457189">
              <a:buFont typeface="+mj-lt"/>
              <a:buAutoNum type="alphaLcParenR"/>
            </a:pPr>
            <a:endParaRPr lang="en-US" dirty="0">
              <a:latin typeface="+mj-lt"/>
            </a:endParaRPr>
          </a:p>
          <a:p>
            <a:pPr marL="685783" lvl="1" indent="-461422">
              <a:buNone/>
            </a:pPr>
            <a:r>
              <a:rPr lang="en-US" sz="1867" dirty="0">
                <a:latin typeface="+mj-lt"/>
              </a:rPr>
              <a:t>2. What influence does the bullwhip effect have on order quantities as you move upstream in a supply chain?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Increase in order volatility from customers to suppliers.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Order quantities remain constant across the lower stream of the supply chain.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Order quantities are independent of the bullwhip effect.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Decrease in order volatility from customers to suppliers.</a:t>
            </a:r>
            <a:endParaRPr lang="en-US" i="0" dirty="0">
              <a:effectLst/>
              <a:latin typeface="arial" panose="020B0604020202020204" pitchFamily="34" charset="0"/>
            </a:endParaRPr>
          </a:p>
          <a:p>
            <a:pPr lvl="2" indent="0">
              <a:buNone/>
            </a:pPr>
            <a:endParaRPr lang="en-US" i="0" dirty="0">
              <a:effectLst/>
              <a:latin typeface="arial" panose="020B0604020202020204" pitchFamily="34" charset="0"/>
            </a:endParaRPr>
          </a:p>
          <a:p>
            <a:pPr marL="457189" indent="-457189">
              <a:buAutoNum type="arabicPeriod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liennummernplatzhalter 1">
            <a:extLst>
              <a:ext uri="{FF2B5EF4-FFF2-40B4-BE49-F238E27FC236}">
                <a16:creationId xmlns:a16="http://schemas.microsoft.com/office/drawing/2014/main" id="{17D86C9F-EB37-4FF3-874F-ADD02A341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473314"/>
            <a:ext cx="810845" cy="365125"/>
          </a:xfrm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CE58CB1E-F828-4F11-99E0-327109AF9DA4}" type="slidenum">
              <a:rPr lang="en-US">
                <a:solidFill>
                  <a:prstClr val="black"/>
                </a:solidFill>
                <a:latin typeface="Arial" charset="0"/>
                <a:cs typeface="Arial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29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CD46-1A7C-48CF-96C4-5F7C5CFE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1063199"/>
            <a:ext cx="11345332" cy="501651"/>
          </a:xfrm>
        </p:spPr>
        <p:txBody>
          <a:bodyPr/>
          <a:lstStyle/>
          <a:p>
            <a:r>
              <a:rPr lang="en-US" dirty="0"/>
              <a:t>MCQs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E73C-048D-46BF-ACC7-1BE2E2A22B2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3914" y="1837363"/>
            <a:ext cx="11345332" cy="4488341"/>
          </a:xfrm>
        </p:spPr>
        <p:txBody>
          <a:bodyPr/>
          <a:lstStyle/>
          <a:p>
            <a:pPr marL="685783" lvl="1" indent="-461422">
              <a:buNone/>
            </a:pPr>
            <a:r>
              <a:rPr lang="en-US" sz="1867" dirty="0">
                <a:latin typeface="+mj-lt"/>
              </a:rPr>
              <a:t>3. Which of the following is NOT a cause of the bullwhip effect?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Seasonal discounts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Everyday low pricing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Inflated orders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Longer lead time</a:t>
            </a:r>
          </a:p>
          <a:p>
            <a:pPr lvl="2" indent="0">
              <a:buNone/>
            </a:pPr>
            <a:endParaRPr lang="de-DE" b="1" dirty="0">
              <a:latin typeface="+mj-lt"/>
            </a:endParaRPr>
          </a:p>
          <a:p>
            <a:pPr marL="685783" lvl="1" indent="-461422">
              <a:buNone/>
            </a:pPr>
            <a:r>
              <a:rPr lang="en-US" sz="1867" dirty="0">
                <a:solidFill>
                  <a:prstClr val="black"/>
                </a:solidFill>
              </a:rPr>
              <a:t>4. </a:t>
            </a:r>
            <a:r>
              <a:rPr lang="en-US" sz="2000" dirty="0"/>
              <a:t>Which of the following is a problem associated with the bullwhip effect?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Lower safety stock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Higher capacity utilization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Suboptimal capacity decisions</a:t>
            </a:r>
          </a:p>
          <a:p>
            <a:pPr marL="937661" lvl="2" indent="-457189">
              <a:buFont typeface="+mj-lt"/>
              <a:buAutoNum type="alphaLcParenR"/>
            </a:pPr>
            <a:r>
              <a:rPr lang="en-US" dirty="0"/>
              <a:t>Lower upstream logistics costs</a:t>
            </a:r>
            <a:endParaRPr lang="de-DE" dirty="0">
              <a:latin typeface="+mj-lt"/>
            </a:endParaRPr>
          </a:p>
        </p:txBody>
      </p:sp>
      <p:sp>
        <p:nvSpPr>
          <p:cNvPr id="5" name="Foliennummernplatzhalter 1">
            <a:extLst>
              <a:ext uri="{FF2B5EF4-FFF2-40B4-BE49-F238E27FC236}">
                <a16:creationId xmlns:a16="http://schemas.microsoft.com/office/drawing/2014/main" id="{17D86C9F-EB37-4FF3-874F-ADD02A341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473314"/>
            <a:ext cx="810845" cy="365125"/>
          </a:xfrm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CE58CB1E-F828-4F11-99E0-327109AF9DA4}" type="slidenum">
              <a:rPr lang="en-US">
                <a:solidFill>
                  <a:prstClr val="black"/>
                </a:solidFill>
                <a:latin typeface="Arial" charset="0"/>
                <a:cs typeface="Arial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39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charRg st="26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C0CD46-1A7C-48CF-96C4-5F7C5CFEACC8}"/>
              </a:ext>
            </a:extLst>
          </p:cNvPr>
          <p:cNvSpPr txBox="1">
            <a:spLocks/>
          </p:cNvSpPr>
          <p:nvPr/>
        </p:nvSpPr>
        <p:spPr>
          <a:xfrm>
            <a:off x="425450" y="1063199"/>
            <a:ext cx="11345332" cy="50165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sz="2933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330" dirty="0"/>
              <a:t>MCQs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ECE73C-048D-46BF-ACC7-1BE2E2A22B2D}"/>
              </a:ext>
            </a:extLst>
          </p:cNvPr>
          <p:cNvSpPr txBox="1">
            <a:spLocks/>
          </p:cNvSpPr>
          <p:nvPr/>
        </p:nvSpPr>
        <p:spPr>
          <a:xfrm>
            <a:off x="423914" y="1837363"/>
            <a:ext cx="11345332" cy="4488341"/>
          </a:xfrm>
          <a:prstGeom prst="rect">
            <a:avLst/>
          </a:prstGeom>
        </p:spPr>
        <p:txBody>
          <a:bodyPr vert="horz" lIns="0" tIns="45720" rIns="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41832" lvl="1" indent="-461422">
              <a:lnSpc>
                <a:spcPct val="120000"/>
              </a:lnSpc>
            </a:pPr>
            <a:r>
              <a:rPr lang="en-US" sz="1867" dirty="0">
                <a:latin typeface="+mj-lt"/>
              </a:rPr>
              <a:t>5. What role does lead time play in the bullwhip effect?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Shorter lead times amplify the bullwhip effect by increasing variability.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Longer lead times amplify the bullwhip effect by increasing uncertainty.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Lead times have no significant impact on the bullwhip effect.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Lead times are only relevant for finished goods and not raw materials.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endParaRPr lang="en-US" dirty="0"/>
          </a:p>
          <a:p>
            <a:pPr marL="941832" lvl="1" indent="-461422">
              <a:lnSpc>
                <a:spcPct val="120000"/>
              </a:lnSpc>
            </a:pPr>
            <a:r>
              <a:rPr lang="en-US" sz="1867" dirty="0"/>
              <a:t>6. Recall the empirical evidence of the bullwhip effect from the lecture. The effect is illustrated by comparing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Price and profit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Lead time and capacity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Revenue and cost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Demand and shipments</a:t>
            </a:r>
          </a:p>
          <a:p>
            <a:pPr marL="941843" lvl="3">
              <a:lnSpc>
                <a:spcPct val="120000"/>
              </a:lnSpc>
            </a:pPr>
            <a:endParaRPr lang="en-US" dirty="0"/>
          </a:p>
          <a:p>
            <a:pPr marL="941832" lvl="2">
              <a:lnSpc>
                <a:spcPct val="120000"/>
              </a:lnSpc>
            </a:pPr>
            <a:endParaRPr lang="en-US" dirty="0"/>
          </a:p>
          <a:p>
            <a:pPr marL="941832" lvl="2">
              <a:lnSpc>
                <a:spcPct val="120000"/>
              </a:lnSpc>
            </a:pPr>
            <a:endParaRPr lang="de-DE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852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DBDE-CA58-C2C5-8221-1EF498E5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628B4-0A26-349E-51B1-8FACDA14C9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C185A9-D559-105B-014F-43A167FF87A9}"/>
              </a:ext>
            </a:extLst>
          </p:cNvPr>
          <p:cNvSpPr txBox="1">
            <a:spLocks/>
          </p:cNvSpPr>
          <p:nvPr/>
        </p:nvSpPr>
        <p:spPr>
          <a:xfrm>
            <a:off x="425450" y="1063199"/>
            <a:ext cx="11345332" cy="50165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sz="2933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330" dirty="0"/>
              <a:t>MCQs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109531-EEAC-9F46-28E1-313E8F6953F0}"/>
              </a:ext>
            </a:extLst>
          </p:cNvPr>
          <p:cNvSpPr txBox="1">
            <a:spLocks/>
          </p:cNvSpPr>
          <p:nvPr/>
        </p:nvSpPr>
        <p:spPr>
          <a:xfrm>
            <a:off x="423914" y="1837363"/>
            <a:ext cx="11345332" cy="4488341"/>
          </a:xfrm>
          <a:prstGeom prst="rect">
            <a:avLst/>
          </a:prstGeom>
        </p:spPr>
        <p:txBody>
          <a:bodyPr vert="horz" lIns="0" tIns="45720" rIns="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41832" lvl="1" indent="-461422">
              <a:lnSpc>
                <a:spcPct val="120000"/>
              </a:lnSpc>
            </a:pPr>
            <a:r>
              <a:rPr lang="en-US" sz="1867" dirty="0">
                <a:latin typeface="+mj-lt"/>
              </a:rPr>
              <a:t>7. </a:t>
            </a:r>
            <a:r>
              <a:rPr lang="en-US" sz="2000" dirty="0"/>
              <a:t>Shortage gaming occurs when buyers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Avoid ordering during promotions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Share real demand information with suppliers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Overorder during scarcity to receive a larger allocation.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Underorder to reduce inventory.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endParaRPr lang="en-US" dirty="0"/>
          </a:p>
          <a:p>
            <a:pPr marL="941832" lvl="1" indent="-461422">
              <a:lnSpc>
                <a:spcPct val="120000"/>
              </a:lnSpc>
            </a:pPr>
            <a:r>
              <a:rPr lang="en-US" sz="1867" dirty="0"/>
              <a:t>8. </a:t>
            </a:r>
            <a:r>
              <a:rPr lang="en-US" sz="2000" dirty="0"/>
              <a:t>Which statement best summarizes the logic of supply chain coordination against bullwhip?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Firms should align information, incentives, and product flow to reduce demand amplification.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Each firm should optimize its profit independently. 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Retailers should order as much as possible during shortages.</a:t>
            </a:r>
          </a:p>
          <a:p>
            <a:pPr marL="1399032" lvl="3" indent="-457189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Upstream firms should more observe orders, not sales.</a:t>
            </a:r>
          </a:p>
          <a:p>
            <a:pPr marL="941832" lvl="2">
              <a:lnSpc>
                <a:spcPct val="120000"/>
              </a:lnSpc>
            </a:pPr>
            <a:endParaRPr lang="en-US" dirty="0"/>
          </a:p>
          <a:p>
            <a:pPr marL="941832" lvl="2">
              <a:lnSpc>
                <a:spcPct val="120000"/>
              </a:lnSpc>
            </a:pPr>
            <a:endParaRPr lang="de-DE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531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Slides (1).pptx" id="{DD6CF13F-1C33-46BC-BCB5-F2DA50CC1F47}" vid="{A3DCB717-E2B7-4395-9F18-73622485F722}"/>
    </a:ext>
  </a:extLst>
</a:theme>
</file>

<file path=ppt/theme/theme3.xml><?xml version="1.0" encoding="utf-8"?>
<a:theme xmlns:a="http://schemas.openxmlformats.org/drawingml/2006/main" name="Titel 4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Slides (1).pptx" id="{DD6CF13F-1C33-46BC-BCB5-F2DA50CC1F47}" vid="{DC697A70-3DB4-4F40-BD60-95EF0FE3A62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Widescreen</PresentationFormat>
  <Paragraphs>64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</vt:lpstr>
      <vt:lpstr>Calibri</vt:lpstr>
      <vt:lpstr>Calibri Light</vt:lpstr>
      <vt:lpstr>Symbol</vt:lpstr>
      <vt:lpstr>Office Theme</vt:lpstr>
      <vt:lpstr>Titel 3</vt:lpstr>
      <vt:lpstr>Titel 4</vt:lpstr>
      <vt:lpstr>Supply Chain Coordination</vt:lpstr>
      <vt:lpstr>MCQs</vt:lpstr>
      <vt:lpstr>MCQs</vt:lpstr>
      <vt:lpstr>PowerPoint Presentation</vt:lpstr>
      <vt:lpstr>PowerPoint Presentation</vt:lpstr>
    </vt:vector>
  </TitlesOfParts>
  <Company>Leibniz-Rechenzentrum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Coordination &amp; Lean Management</dc:title>
  <dc:creator>Choi, Daun</dc:creator>
  <cp:lastModifiedBy>Daun Choi</cp:lastModifiedBy>
  <cp:revision>22</cp:revision>
  <dcterms:created xsi:type="dcterms:W3CDTF">2023-06-14T14:28:03Z</dcterms:created>
  <dcterms:modified xsi:type="dcterms:W3CDTF">2026-05-31T18:05:25Z</dcterms:modified>
</cp:coreProperties>
</file>